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emf" ContentType="image/x-e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NET 18.12-->
<p:presentation xmlns:r="http://schemas.openxmlformats.org/officeDocument/2006/relationships" xmlns:a="http://schemas.openxmlformats.org/drawingml/2006/main" xmlns:p="http://schemas.openxmlformats.org/presentationml/2006/main" saveSubsetFonts="1">
  <p:sldMasterIdLst>
    <p:sldMasterId id="2147483648" r:id="rId2"/>
  </p:sldMasterIdLst>
  <p:notesMasterIdLst>
    <p:notesMasterId r:id="rId3"/>
  </p:notesMasterIdLst>
  <p:sldIdLst>
    <p:sldId id="686" r:id="rId4"/>
    <p:sldId id="619" r:id="rId5"/>
    <p:sldId id="687" r:id="rId6"/>
    <p:sldId id="691" r:id="rId7"/>
    <p:sldId id="688" r:id="rId8"/>
    <p:sldId id="690" r:id="rId9"/>
    <p:sldId id="693" r:id="rId10"/>
    <p:sldId id="692" r:id="rId11"/>
    <p:sldId id="694" r:id="rId12"/>
    <p:sldId id="695" r:id="rId13"/>
    <p:sldId id="696" r:id="rId14"/>
    <p:sldId id="697" r:id="rId15"/>
    <p:sldId id="698" r:id="rId16"/>
    <p:sldId id="699" r:id="rId17"/>
    <p:sldId id="700" r:id="rId18"/>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p="http://schemas.openxmlformats.org/presentationml/2006/main">
  <p:cmAuthor id="1" name="Amanda Bittner" initials="AB" lastIdx="0" clrIdx="0">
    <p:extLst>
      <p:ext uri="{19B8F6BF-5375-455C-9EA6-DF929625EA0E}">
        <p15:presenceInfo xmlns:p15="http://schemas.microsoft.com/office/powerpoint/2012/main" userId="S-1-5-21-3313902355-22749281-65786543-5265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0" d="100"/>
          <a:sy n="80" d="100"/>
        </p:scale>
        <p:origin x="438" y="90"/>
      </p:cViewPr>
      <p:guideLst/>
    </p:cSldViewPr>
  </p:slideViewPr>
  <p:notesTextViewPr>
    <p:cViewPr>
      <p:scale>
        <a:sx n="1" d="1"/>
        <a:sy n="1" d="1"/>
      </p:scale>
      <p:origin x="0" y="0"/>
    </p:cViewPr>
  </p:notesTextViewPr>
  <p:notesViewPr>
    <p:cSldViewPr>
      <p:cViewPr>
        <p:scale>
          <a:sx n="1" d="100"/>
          <a:sy n="1" d="100"/>
        </p:scale>
        <p:origin x="0" y="0"/>
      </p:cViewPr>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8" Type="http://schemas.openxmlformats.org/officeDocument/2006/relationships/slide" Target="slides/slide5.xml"/><Relationship Id="rId26" Type="http://schemas.openxmlformats.org/officeDocument/2006/relationships/customXml" Target="../customXml/item3.xml"/><Relationship Id="rId21" Type="http://schemas.openxmlformats.org/officeDocument/2006/relationships/viewProps" Target="viewProps.xml"/><Relationship Id="rId3" Type="http://schemas.openxmlformats.org/officeDocument/2006/relationships/notesMaster" Target="notesMasters/notesMaster1.xml"/><Relationship Id="rId12" Type="http://schemas.openxmlformats.org/officeDocument/2006/relationships/slide" Target="slides/slide9.xml"/><Relationship Id="rId17" Type="http://schemas.openxmlformats.org/officeDocument/2006/relationships/slide" Target="slides/slide14.xml"/><Relationship Id="rId7" Type="http://schemas.openxmlformats.org/officeDocument/2006/relationships/slide" Target="slides/slide4.xml"/><Relationship Id="rId25" Type="http://schemas.openxmlformats.org/officeDocument/2006/relationships/customXml" Target="../customXml/item2.xml"/><Relationship Id="rId16" Type="http://schemas.openxmlformats.org/officeDocument/2006/relationships/slide" Target="slides/slide13.xml"/><Relationship Id="rId2" Type="http://schemas.openxmlformats.org/officeDocument/2006/relationships/slideMaster" Target="slideMasters/slideMaster1.xml"/><Relationship Id="rId20" Type="http://schemas.openxmlformats.org/officeDocument/2006/relationships/presProps" Target="presProps.xml"/><Relationship Id="rId1" Type="http://schemas.openxmlformats.org/officeDocument/2006/relationships/commentAuthors" Target="commentAuthors.xml"/><Relationship Id="rId11" Type="http://schemas.openxmlformats.org/officeDocument/2006/relationships/slide" Target="slides/slide8.xml"/><Relationship Id="rId6" Type="http://schemas.openxmlformats.org/officeDocument/2006/relationships/slide" Target="slides/slide3.xml"/><Relationship Id="rId24" Type="http://schemas.openxmlformats.org/officeDocument/2006/relationships/customXml" Target="../customXml/item1.xml"/><Relationship Id="rId15" Type="http://schemas.openxmlformats.org/officeDocument/2006/relationships/slide" Target="slides/slide12.xml"/><Relationship Id="rId2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tags" Target="tags/tag1.xml"/><Relationship Id="rId14" Type="http://schemas.openxmlformats.org/officeDocument/2006/relationships/slide" Target="slides/slide11.xml"/><Relationship Id="rId2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80930-B80E-4122-8CAA-97513B8DE393}" type="datetimeFigureOut">
              <a:rPr lang="en-US" smtClean="0"/>
              <a:t>5/22/2018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8BC831-C729-4451-80B1-E8A0F3899C63}" type="slidenum">
              <a:rPr lang="en-US" smtClean="0"/>
              <a:t>‹#›</a:t>
            </a:fld>
            <a:endParaRPr lang="en-US"/>
          </a:p>
        </p:txBody>
      </p:sp>
    </p:spTree>
    <p:extLst>
      <p:ext uri="{BB962C8B-B14F-4D97-AF65-F5344CB8AC3E}">
        <p14:creationId xmlns:p14="http://schemas.microsoft.com/office/powerpoint/2010/main" val="2865161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63328031"/>
      </p:ext>
    </p:extLst>
  </p:cSld>
  <p:clrMapOvr>
    <a:masterClrMapping/>
  </p:clrMapOvr>
</p:notes>
</file>

<file path=ppt/notesSlides/notesSlide2.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19259388"/>
      </p:ext>
    </p:extLst>
  </p:cSld>
  <p:clrMapOvr>
    <a:masterClrMapping/>
  </p:clrMapOvr>
</p:notes>
</file>

<file path=ppt/notesSlides/notesSlide3.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85759390"/>
      </p:ext>
    </p:extLst>
  </p:cSld>
  <p:clrMapOvr>
    <a:masterClrMapping/>
  </p:clrMapOvr>
</p:notes>
</file>

<file path=ppt/notesSlides/notesSlide4.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9687570"/>
      </p:ext>
    </p:extLst>
  </p:cSld>
  <p:clrMapOvr>
    <a:masterClrMapping/>
  </p:clrMapOvr>
</p:notes>
</file>

<file path=ppt/notesSlides/notesSlide5.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97999147"/>
      </p:ext>
    </p:extLst>
  </p:cSld>
  <p:clrMapOvr>
    <a:masterClrMapping/>
  </p:clrMapOvr>
</p:notes>
</file>

<file path=ppt/notesSlides/notesSlide6.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81111100"/>
      </p:ext>
    </p:extLst>
  </p:cSld>
  <p:clrMapOvr>
    <a:masterClrMapping/>
  </p:clrMapOvr>
</p:notes>
</file>

<file path=ppt/notesSlides/notesSlide7.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95875433"/>
      </p:ext>
    </p:extLst>
  </p:cSld>
  <p:clrMapOvr>
    <a:masterClrMapping/>
  </p:clrMapOvr>
</p:notes>
</file>

<file path=ppt/notesSlides/notesSlide8.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29135930"/>
      </p:ext>
    </p:extLst>
  </p:cSld>
  <p:clrMapOvr>
    <a:masterClrMapping/>
  </p:clrMapOvr>
</p:notes>
</file>

<file path=ppt/notesSlides/notesSlide9.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28494708"/>
      </p:ext>
    </p:extLst>
  </p:cSld>
  <p:clrMapOvr>
    <a:masterClrMapping/>
  </p:clrMapOvr>
</p:notes>
</file>

<file path=ppt/notesSlides/notesSlide10.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69624915"/>
      </p:ext>
    </p:extLst>
  </p:cSld>
  <p:clrMapOvr>
    <a:masterClrMapping/>
  </p:clrMapOvr>
</p:notes>
</file>

<file path=ppt/notesSlides/notesSlide1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86596822"/>
      </p:ext>
    </p:extLst>
  </p:cSld>
  <p:clrMapOvr>
    <a:masterClrMapping/>
  </p:clrMapOvr>
</p:notes>
</file>

<file path=ppt/notesSlides/notesSlide12.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78663229"/>
      </p:ext>
    </p:extLst>
  </p:cSld>
  <p:clrMapOvr>
    <a:masterClrMapping/>
  </p:clrMapOvr>
</p:notes>
</file>

<file path=ppt/notesSlides/notesSlide13.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00417978"/>
      </p:ext>
    </p:extLst>
  </p:cSld>
  <p:clrMapOvr>
    <a:masterClrMapping/>
  </p:clrMapOvr>
</p:notes>
</file>

<file path=ppt/notesSlides/notesSlide14.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73987747"/>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a:extLst>
              <a:ext uri="{FF2B5EF4-FFF2-40B4-BE49-F238E27FC236}">
                <a16:creationId xmlns:a16="http://schemas.microsoft.com/office/drawing/2014/main" id="{368B6F46-C003-4176-AA1E-2458E6ED35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1B5C81-8578-42B1-8CDD-BB6DA6C5ED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F54C42-8151-41FC-9774-70DA0B420A59}"/>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5" name="Footer Placeholder 4">
            <a:extLst>
              <a:ext uri="{FF2B5EF4-FFF2-40B4-BE49-F238E27FC236}">
                <a16:creationId xmlns:a16="http://schemas.microsoft.com/office/drawing/2014/main" id="{1CCD3E14-00F0-414F-9CC0-36041D6597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57663D-6629-4C11-B921-B20F8A32D19F}"/>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038233199"/>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B2744F50-4517-496D-AA20-DA078230DE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1A0D2F-AC14-46A2-B5B9-F670D77B506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FDCD33-B136-4214-ADBF-6B79C56741FD}"/>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5" name="Footer Placeholder 4">
            <a:extLst>
              <a:ext uri="{FF2B5EF4-FFF2-40B4-BE49-F238E27FC236}">
                <a16:creationId xmlns:a16="http://schemas.microsoft.com/office/drawing/2014/main" id="{C10CD2C3-0FF9-4FF8-81F3-9697792642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DD6D0-D3BC-47B2-8113-4311FF081951}"/>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258388776"/>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a:extLst>
              <a:ext uri="{FF2B5EF4-FFF2-40B4-BE49-F238E27FC236}">
                <a16:creationId xmlns:a16="http://schemas.microsoft.com/office/drawing/2014/main" id="{169064A5-F8CC-4285-8CD1-CEE26499CC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0CA71A-56E8-4CC1-93DE-E01FA941BE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7C99749-BC28-48F3-A66C-7DE0E06282EF}"/>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5" name="Footer Placeholder 4">
            <a:extLst>
              <a:ext uri="{FF2B5EF4-FFF2-40B4-BE49-F238E27FC236}">
                <a16:creationId xmlns:a16="http://schemas.microsoft.com/office/drawing/2014/main" id="{8E026847-203F-46C2-84A9-FBF30A15DD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D188D4-0A60-4251-A6B2-50F3F260C365}"/>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546071126"/>
      </p:ext>
    </p:extLst>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0B74155E-0AE7-4354-8297-A94BB300D7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40651-57DF-4810-B302-AF6C4045C36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65921C-CCDE-4C24-955D-7CFFE41BC63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9E9520-D20C-4EC5-BA73-7E86A925C902}"/>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6" name="Footer Placeholder 5">
            <a:extLst>
              <a:ext uri="{FF2B5EF4-FFF2-40B4-BE49-F238E27FC236}">
                <a16:creationId xmlns:a16="http://schemas.microsoft.com/office/drawing/2014/main" id="{D671A396-5C97-4B6F-9A02-8E5EADD01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DE7B0-E71E-44A2-9A52-65D216E3F11E}"/>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1869313962"/>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a:extLst>
              <a:ext uri="{FF2B5EF4-FFF2-40B4-BE49-F238E27FC236}">
                <a16:creationId xmlns:a16="http://schemas.microsoft.com/office/drawing/2014/main" id="{29E4D7AC-1FE8-4E62-8BDE-A77B88B4F8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E329DD-253A-41DA-950E-2D75D66C2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0B45DA7-09AA-4693-8344-090D7E009B2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980701-EBDC-4D8D-BCCC-C3FD65C36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14B04A4-262F-4539-9EC8-51F1B511752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866725-48A7-43F4-B770-2A7BC813A7E6}"/>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8" name="Footer Placeholder 7">
            <a:extLst>
              <a:ext uri="{FF2B5EF4-FFF2-40B4-BE49-F238E27FC236}">
                <a16:creationId xmlns:a16="http://schemas.microsoft.com/office/drawing/2014/main" id="{DAB8C5FE-E062-4862-B3D9-5A50AFC9D3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1FE47C-B88F-421F-B0CE-DEBE2FAF00EB}"/>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420549624"/>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a:extLst>
              <a:ext uri="{FF2B5EF4-FFF2-40B4-BE49-F238E27FC236}">
                <a16:creationId xmlns:a16="http://schemas.microsoft.com/office/drawing/2014/main" id="{FDA275CB-84FD-43B2-80AC-834E194FB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28424E-2A8B-4B9E-80E8-1FB60121C750}"/>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4" name="Footer Placeholder 3">
            <a:extLst>
              <a:ext uri="{FF2B5EF4-FFF2-40B4-BE49-F238E27FC236}">
                <a16:creationId xmlns:a16="http://schemas.microsoft.com/office/drawing/2014/main" id="{533CB6DB-7747-4794-B920-FEB325B662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5720B8-3C82-4360-BF4C-72074F35876C}"/>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211539143"/>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2" name="Date Placeholder 1">
            <a:extLst>
              <a:ext uri="{FF2B5EF4-FFF2-40B4-BE49-F238E27FC236}">
                <a16:creationId xmlns:a16="http://schemas.microsoft.com/office/drawing/2014/main" id="{B428CBB8-4C08-44A2-85F6-0FE8AABC5DE2}"/>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3" name="Footer Placeholder 2">
            <a:extLst>
              <a:ext uri="{FF2B5EF4-FFF2-40B4-BE49-F238E27FC236}">
                <a16:creationId xmlns:a16="http://schemas.microsoft.com/office/drawing/2014/main" id="{5C8D994B-AE0A-46F4-B0BA-ACDBE782A7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BE49AA-7798-42FD-8A6C-F99DC23255AF}"/>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117051008"/>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ED0A66D3-603B-499A-8EF1-6C10337E49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8EC104-F35A-49C0-94EE-CE8CBFB4AA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F54811-F88E-4FB7-9335-FA264CCF2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7E0A9B-3C5A-4065-BA55-FFA5862DFA93}"/>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6" name="Footer Placeholder 5">
            <a:extLst>
              <a:ext uri="{FF2B5EF4-FFF2-40B4-BE49-F238E27FC236}">
                <a16:creationId xmlns:a16="http://schemas.microsoft.com/office/drawing/2014/main" id="{09E2B8B1-DC55-4DB0-A726-7130B59E5A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1F2FD7-29B5-48EB-BE43-514E9FD88366}"/>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054403490"/>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F86F8016-8B38-481C-A0BE-CA93BAE6C3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6D7539-0EB9-4F41-B750-43CE71CA9A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ECC7A8-08CB-41E1-94ED-35D2540065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D3B1BB-8C92-47DC-A2BA-970CCAEF9431}"/>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6" name="Footer Placeholder 5">
            <a:extLst>
              <a:ext uri="{FF2B5EF4-FFF2-40B4-BE49-F238E27FC236}">
                <a16:creationId xmlns:a16="http://schemas.microsoft.com/office/drawing/2014/main" id="{1054C7B1-66CA-417B-95E6-3F996A11AD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FC177F-19A8-4F7D-840E-C2A86159D37F}"/>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098059885"/>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a:extLst>
              <a:ext uri="{FF2B5EF4-FFF2-40B4-BE49-F238E27FC236}">
                <a16:creationId xmlns:a16="http://schemas.microsoft.com/office/drawing/2014/main" id="{EFA023B9-C90F-4BDA-935F-C61A01D06F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45C2B6-D2C3-44E0-88B5-164F992E6CC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2C17D-E6B6-456B-8C41-BA497D2AAF50}"/>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5" name="Footer Placeholder 4">
            <a:extLst>
              <a:ext uri="{FF2B5EF4-FFF2-40B4-BE49-F238E27FC236}">
                <a16:creationId xmlns:a16="http://schemas.microsoft.com/office/drawing/2014/main" id="{5400C6BA-E5AB-442D-BE4A-B585664055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E6999-AAB8-4103-9FF2-F80E44831D53}"/>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2047146118"/>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a:extLst>
              <a:ext uri="{FF2B5EF4-FFF2-40B4-BE49-F238E27FC236}">
                <a16:creationId xmlns:a16="http://schemas.microsoft.com/office/drawing/2014/main" id="{436759A5-6843-491B-9C3E-F2CCAB23D0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88F1AF-82C9-4100-87D8-2EA18D1B2BA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B6047-3A93-4BF8-9D2B-F808406C0D9C}"/>
              </a:ext>
            </a:extLst>
          </p:cNvPr>
          <p:cNvSpPr>
            <a:spLocks noGrp="1"/>
          </p:cNvSpPr>
          <p:nvPr>
            <p:ph type="dt" sz="half" idx="10"/>
          </p:nvPr>
        </p:nvSpPr>
        <p:spPr/>
        <p:txBody>
          <a:bodyPr/>
          <a:lstStyle/>
          <a:p>
            <a:fld id="{6785D025-49DC-49E8-AA0A-0C7AB253FA26}" type="datetimeFigureOut">
              <a:rPr lang="en-US" smtClean="0"/>
              <a:t>5/22/2018</a:t>
            </a:fld>
            <a:endParaRPr lang="en-US"/>
          </a:p>
        </p:txBody>
      </p:sp>
      <p:sp>
        <p:nvSpPr>
          <p:cNvPr id="5" name="Footer Placeholder 4">
            <a:extLst>
              <a:ext uri="{FF2B5EF4-FFF2-40B4-BE49-F238E27FC236}">
                <a16:creationId xmlns:a16="http://schemas.microsoft.com/office/drawing/2014/main" id="{8BA5DB15-6BC0-4D14-9D18-BF2B68960F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A1C9B5-C8DB-44E1-B24A-54EE77FF57B0}"/>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999934877"/>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a:extLst>
              <a:ext uri="{FF2B5EF4-FFF2-40B4-BE49-F238E27FC236}">
                <a16:creationId xmlns:a16="http://schemas.microsoft.com/office/drawing/2014/main" id="{3E0315FA-817D-4E34-BF85-EF204B8B3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A18057-41F4-4D65-ACE8-8149C411F6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BDC44-1D47-4985-8336-8454F619E5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85D025-49DC-49E8-AA0A-0C7AB253FA26}" type="datetimeFigureOut">
              <a:rPr lang="en-US" smtClean="0"/>
              <a:t>5/22/2018</a:t>
            </a:fld>
            <a:endParaRPr lang="en-US"/>
          </a:p>
        </p:txBody>
      </p:sp>
      <p:sp>
        <p:nvSpPr>
          <p:cNvPr id="5" name="Footer Placeholder 4">
            <a:extLst>
              <a:ext uri="{FF2B5EF4-FFF2-40B4-BE49-F238E27FC236}">
                <a16:creationId xmlns:a16="http://schemas.microsoft.com/office/drawing/2014/main" id="{2FAD21A9-2EFB-493C-998B-C08453954D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86A01A-A0E2-4BF5-94E2-2A0FD70E50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BF7635-1570-4B02-B8B4-2B0D138B38AD}" type="slidenum">
              <a:rPr lang="en-US" smtClean="0"/>
              <a:t>‹#›</a:t>
            </a:fld>
            <a:endParaRPr lang="en-US"/>
          </a:p>
        </p:txBody>
      </p:sp>
    </p:spTree>
    <p:extLst>
      <p:ext uri="{BB962C8B-B14F-4D97-AF65-F5344CB8AC3E}">
        <p14:creationId xmlns:p14="http://schemas.microsoft.com/office/powerpoint/2010/main" val="317392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png" /><Relationship Id="rId4" Type="http://schemas.openxmlformats.org/officeDocument/2006/relationships/image" Target="../media/image2.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png" /><Relationship Id="rId4" Type="http://schemas.openxmlformats.org/officeDocument/2006/relationships/image" Target="../media/image3.emf"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png" /><Relationship Id="rId4" Type="http://schemas.openxmlformats.org/officeDocument/2006/relationships/image" Target="../media/image4.emf"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png" /><Relationship Id="rId4" Type="http://schemas.openxmlformats.org/officeDocument/2006/relationships/image" Target="../media/image5.emf"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png" /><Relationship Id="rId4" Type="http://schemas.openxmlformats.org/officeDocument/2006/relationships/image" Target="../media/image6.emf"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png" /><Relationship Id="rId4" Type="http://schemas.openxmlformats.org/officeDocument/2006/relationships/image" Target="../media/image7.emf"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png" /><Relationship Id="rId4" Type="http://schemas.openxmlformats.org/officeDocument/2006/relationships/image" Target="../media/image8.emf"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png" /><Relationship Id="rId4" Type="http://schemas.openxmlformats.org/officeDocument/2006/relationships/image" Target="../media/image9.emf"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png" /><Relationship Id="rId4" Type="http://schemas.openxmlformats.org/officeDocument/2006/relationships/image" Target="../media/image10.emf"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122" name="Shape 122"/>
          <p:cNvSpPr/>
          <p:nvPr/>
        </p:nvSpPr>
        <p:spPr>
          <a:xfrm>
            <a:off x="7463831" y="4836636"/>
            <a:ext cx="51296" cy="689932"/>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a:defRPr sz="8300">
                <a:solidFill>
                  <a:srgbClr val="FFFFFF"/>
                </a:solidFill>
                <a:latin typeface="Futura"/>
                <a:ea typeface="Futura"/>
                <a:cs typeface="Futura"/>
                <a:sym typeface="Futura"/>
              </a:defRPr>
            </a:lvl1pPr>
          </a:lstStyle>
          <a:p>
            <a:endParaRPr lang="en-US" sz="4150">
              <a:latin typeface="Century Gothic" charset="0"/>
              <a:ea typeface="Century Gothic" charset="0"/>
              <a:cs typeface="Century Gothic" charset="0"/>
            </a:endParaRPr>
          </a:p>
        </p:txBody>
      </p:sp>
      <p:sp>
        <p:nvSpPr>
          <p:cNvPr id="4" name="TextBox 3"/>
          <p:cNvSpPr txBox="1"/>
          <p:nvPr/>
        </p:nvSpPr>
        <p:spPr>
          <a:xfrm>
            <a:off x="209176" y="298824"/>
            <a:ext cx="11684000" cy="4278094"/>
          </a:xfrm>
          <a:prstGeom prst="rect">
            <a:avLst/>
          </a:prstGeom>
          <a:noFill/>
        </p:spPr>
        <p:txBody>
          <a:bodyPr wrap="square" rtlCol="0">
            <a:spAutoFit/>
          </a:bodyPr>
          <a:lstStyle/>
          <a:p>
            <a:r>
              <a:rPr lang="en-US" sz="4800">
                <a:latin typeface="Century Gothic" charset="0"/>
                <a:cs typeface="Century Gothic" charset="0"/>
              </a:rPr>
              <a:t>Feed Grains Outlook:</a:t>
            </a:r>
          </a:p>
          <a:p>
            <a:r>
              <a:rPr lang="en-US" sz="4800">
                <a:latin typeface="Century Gothic" charset="0"/>
                <a:cs typeface="Century Gothic" charset="0"/>
              </a:rPr>
              <a:t>Shifting Trade Patterns and Implications for the US Acreage Mix</a:t>
            </a:r>
          </a:p>
          <a:p>
            <a:endParaRPr lang="en-US" sz="3200">
              <a:latin typeface="Century Gothic" charset="0"/>
              <a:cs typeface="Century Gothic" charset="0"/>
            </a:endParaRPr>
          </a:p>
          <a:p>
            <a:endParaRPr lang="en-US" sz="3200">
              <a:latin typeface="Century Gothic" charset="0"/>
              <a:cs typeface="Century Gothic" charset="0"/>
            </a:endParaRPr>
          </a:p>
          <a:p>
            <a:endParaRPr lang="en-US" sz="3200">
              <a:latin typeface="Century Gothic" charset="0"/>
              <a:cs typeface="Century Gothic" charset="0"/>
            </a:endParaRPr>
          </a:p>
          <a:p>
            <a:r>
              <a:rPr lang="en-US" sz="3200">
                <a:latin typeface="Century Gothic" charset="0"/>
                <a:cs typeface="Century Gothic" charset="0"/>
              </a:rPr>
              <a:t>May 23, 2018</a:t>
            </a:r>
          </a:p>
        </p:txBody>
      </p:sp>
      <p:sp>
        <p:nvSpPr>
          <p:cNvPr id="9" name="Shape 119"/>
          <p:cNvSpPr/>
          <p:nvPr/>
        </p:nvSpPr>
        <p:spPr>
          <a:xfrm>
            <a:off x="1" y="4665307"/>
            <a:ext cx="12192000" cy="2192695"/>
          </a:xfrm>
          <a:prstGeom prst="rect">
            <a:avLst/>
          </a:prstGeom>
          <a:solidFill>
            <a:srgbClr val="243A48"/>
          </a:solidFill>
          <a:ln w="12700">
            <a:miter lim="400000"/>
          </a:ln>
        </p:spPr>
        <p:txBody>
          <a:bodyPr lIns="25400" tIns="25400" rIns="25400" bIns="25400" anchor="ctr"/>
          <a:lstStyle/>
          <a:p>
            <a:pPr>
              <a:defRPr sz="3200">
                <a:solidFill>
                  <a:srgbClr val="FFFFFF"/>
                </a:solidFill>
              </a:defRPr>
            </a:pPr>
            <a:endParaRPr sz="1600">
              <a:solidFill>
                <a:srgbClr val="F3E437"/>
              </a:solidFill>
            </a:endParaRPr>
          </a:p>
        </p:txBody>
      </p:sp>
      <p:pic>
        <p:nvPicPr>
          <p:cNvPr id="120" name="pasted-image.png"/>
          <p:cNvPicPr>
            <a:picLocks noChangeAspect="1"/>
          </p:cNvPicPr>
          <p:nvPr/>
        </p:nvPicPr>
        <p:blipFill>
          <a:blip r:embed="rId2">
            <a:extLst/>
          </a:blip>
          <a:stretch>
            <a:fillRect/>
          </a:stretch>
        </p:blipFill>
        <p:spPr>
          <a:xfrm>
            <a:off x="9239081" y="3614831"/>
            <a:ext cx="2527301" cy="736601"/>
          </a:xfrm>
          <a:prstGeom prst="rect">
            <a:avLst/>
          </a:prstGeom>
          <a:ln w="12700">
            <a:miter lim="400000"/>
          </a:ln>
        </p:spPr>
      </p:pic>
    </p:spTree>
    <p:extLst>
      <p:ext uri="{BB962C8B-B14F-4D97-AF65-F5344CB8AC3E}">
        <p14:creationId xmlns:p14="http://schemas.microsoft.com/office/powerpoint/2010/main" val="2123852027"/>
      </p:ext>
    </p:extLst>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50589"/>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19938" y="2423610"/>
            <a:ext cx="10244858" cy="354584"/>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endParaRPr lang="en-US" sz="2150">
              <a:latin typeface="Century Gothic" charset="0"/>
              <a:ea typeface="Century Gothic" charset="0"/>
              <a:cs typeface="Century Gothic" charset="0"/>
            </a:endParaRP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3" name="TextBox 2"/>
          <p:cNvSpPr txBox="1"/>
          <p:nvPr/>
        </p:nvSpPr>
        <p:spPr>
          <a:xfrm>
            <a:off x="1210235" y="345847"/>
            <a:ext cx="10608236" cy="7294305"/>
          </a:xfrm>
          <a:prstGeom prst="rect">
            <a:avLst/>
          </a:prstGeom>
          <a:noFill/>
        </p:spPr>
        <p:txBody>
          <a:bodyPr wrap="square" rtlCol="0">
            <a:spAutoFit/>
          </a:bodyPr>
          <a:lstStyle/>
          <a:p>
            <a:endParaRPr lang="en-US">
              <a:latin typeface="Century Gothic" charset="0"/>
              <a:cs typeface="Century Gothic" charset="0"/>
            </a:endParaRPr>
          </a:p>
          <a:p>
            <a:pPr marL="174625" indent="-174625"/>
            <a:r>
              <a:rPr lang="en-US">
                <a:latin typeface="Century Gothic" charset="0"/>
                <a:cs typeface="Century Gothic" charset="0"/>
              </a:rPr>
              <a:t>  </a:t>
            </a:r>
            <a:r>
              <a:rPr lang="en-US" sz="2400">
                <a:latin typeface="Century Gothic" charset="0"/>
                <a:cs typeface="Century Gothic" charset="0"/>
              </a:rPr>
              <a:t>The Growth of Chinese Imports May Reshape World Trade in Corn </a:t>
            </a:r>
          </a:p>
          <a:p>
            <a:pPr marL="174625" indent="-174625"/>
            <a:r>
              <a:rPr lang="en-US" sz="2400">
                <a:latin typeface="Century Gothic" charset="0"/>
                <a:cs typeface="Century Gothic" charset="0"/>
              </a:rPr>
              <a:t>  </a:t>
            </a:r>
          </a:p>
          <a:p>
            <a:pPr marL="174625" indent="-174625"/>
            <a:r>
              <a:rPr lang="en-US" sz="2400">
                <a:latin typeface="Century Gothic" charset="0"/>
                <a:cs typeface="Century Gothic" charset="0"/>
              </a:rPr>
              <a:t>  Brazil’s Safrinha Crop Could Play a Key Role in Determining Trade Flows</a:t>
            </a:r>
          </a:p>
          <a:p>
            <a:pPr marL="174625" indent="-174625"/>
            <a:endParaRPr lang="en-US" sz="2400">
              <a:latin typeface="Century Gothic" charset="0"/>
              <a:cs typeface="Century Gothic" charset="0"/>
            </a:endParaRPr>
          </a:p>
          <a:p>
            <a:pPr marL="174625" indent="-174625"/>
            <a:r>
              <a:rPr lang="en-US" sz="2400">
                <a:latin typeface="Century Gothic" charset="0"/>
                <a:cs typeface="Century Gothic" charset="0"/>
              </a:rPr>
              <a:t>  Ukraine Growth is Expected be Limited by Changes in Agricultural Policy</a:t>
            </a:r>
          </a:p>
          <a:p>
            <a:pPr marL="174625" indent="-174625"/>
            <a:endParaRPr lang="en-US" sz="2400">
              <a:latin typeface="Century Gothic" charset="0"/>
              <a:cs typeface="Century Gothic" charset="0"/>
            </a:endParaRPr>
          </a:p>
          <a:p>
            <a:pPr marL="174625" indent="-174625"/>
            <a:r>
              <a:rPr lang="en-US" sz="2400">
                <a:latin typeface="Century Gothic" charset="0"/>
                <a:cs typeface="Century Gothic" charset="0"/>
              </a:rPr>
              <a:t>  US is Likely to Remain the Residual Exporter Outside the Western Hemisphere but Growing World Demand Should Increase Shipments</a:t>
            </a:r>
          </a:p>
          <a:p>
            <a:pPr marL="174625" indent="-174625"/>
            <a:endParaRPr lang="en-US" sz="2400">
              <a:latin typeface="Century Gothic" charset="0"/>
              <a:cs typeface="Century Gothic" charset="0"/>
            </a:endParaRPr>
          </a:p>
          <a:p>
            <a:pPr marL="174625" indent="-174625"/>
            <a:r>
              <a:rPr lang="en-US" sz="2400">
                <a:latin typeface="Century Gothic" charset="0"/>
                <a:cs typeface="Century Gothic" charset="0"/>
              </a:rPr>
              <a:t>  In the Long Term Crop Economics May Favor US Corn Acreage</a:t>
            </a:r>
          </a:p>
          <a:p>
            <a:endParaRPr lang="en-US">
              <a:latin typeface="Century Gothic" charset="0"/>
              <a:cs typeface="Century Gothic" charset="0"/>
            </a:endParaRPr>
          </a:p>
          <a:p>
            <a:r>
              <a:rPr lang="en-US">
                <a:latin typeface="Century Gothic" charset="0"/>
                <a:cs typeface="Century Gothic" charset="0"/>
              </a:rPr>
              <a:t>  </a:t>
            </a:r>
          </a:p>
          <a:p>
            <a:r>
              <a:rPr lang="en-US">
                <a:latin typeface="Century Gothic" charset="0"/>
                <a:cs typeface="Century Gothic" charset="0"/>
              </a:rPr>
              <a:t>  </a:t>
            </a:r>
          </a:p>
          <a:p>
            <a:endParaRPr lang="en-US">
              <a:latin typeface="Century Gothic" charset="0"/>
              <a:cs typeface="Century Gothic" charset="0"/>
            </a:endParaRPr>
          </a:p>
          <a:p>
            <a:endParaRPr lang="en-US">
              <a:latin typeface="Century Gothic" charset="0"/>
              <a:cs typeface="Century Gothic" charset="0"/>
            </a:endParaRPr>
          </a:p>
          <a:p>
            <a:endParaRPr lang="en-US">
              <a:latin typeface="Century Gothic" charset="0"/>
              <a:cs typeface="Century Gothic" charset="0"/>
            </a:endParaRPr>
          </a:p>
          <a:p>
            <a:r>
              <a:rPr lang="en-US">
                <a:latin typeface="Century Gothic" charset="0"/>
                <a:cs typeface="Century Gothic" charset="0"/>
              </a:rPr>
              <a:t>  </a:t>
            </a:r>
          </a:p>
          <a:p>
            <a:endParaRPr lang="en-US">
              <a:latin typeface="Century Gothic" charset="0"/>
              <a:cs typeface="Century Gothic" charset="0"/>
            </a:endParaRPr>
          </a:p>
          <a:p>
            <a:endParaRPr lang="en-US">
              <a:latin typeface="Century Gothic" charset="0"/>
              <a:cs typeface="Century Gothic" charset="0"/>
            </a:endParaRPr>
          </a:p>
        </p:txBody>
      </p:sp>
    </p:spTree>
    <p:extLst>
      <p:ext uri="{BB962C8B-B14F-4D97-AF65-F5344CB8AC3E}">
        <p14:creationId xmlns:p14="http://schemas.microsoft.com/office/powerpoint/2010/main" val="3488453189"/>
      </p:ext>
    </p:extLst>
  </p:cSld>
  <p:clrMapOvr>
    <a:masterClrMapping/>
  </p:clrMapOvr>
  <p:transition/>
  <p:timing/>
</p:sld>
</file>

<file path=ppt/slides/slide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CHINA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19938" y="345847"/>
            <a:ext cx="10244858" cy="4086247"/>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In March 2016 China ended its support for domestic corn prices and changed agricultural policies that favored corn production. </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As a result of the changes, China’s corn acreage peaked in 2014/15 and declined by seven percent over the last two years. </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China’s usage grew almost 15 percent over the same period.</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USDA estimates Chinese corn stocks peaked at just over 110 million tonnes in 2015/16, but have declined by 28 percent over the last two years. Estimates of the time it will take to work through Chinese inventories vary widely.</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Tree>
    <p:extLst>
      <p:ext uri="{BB962C8B-B14F-4D97-AF65-F5344CB8AC3E}">
        <p14:creationId xmlns:p14="http://schemas.microsoft.com/office/powerpoint/2010/main" val="1599349534"/>
      </p:ext>
    </p:extLst>
  </p:cSld>
  <p:clrMapOvr>
    <a:masterClrMapping/>
  </p:clrMapOvr>
  <p:transition/>
  <p:timing/>
</p:sld>
</file>

<file path=ppt/slides/slide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CHINA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608923" y="345859"/>
            <a:ext cx="4508819" cy="2962093"/>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Historically, Chinese corn imports have been relatively limited.</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Ukraine and the United States have historically been the largest sources of Chinese imports.</a:t>
            </a:r>
          </a:p>
          <a:p>
            <a:pPr marL="457200"/>
            <a:endParaRPr lang="en-US" sz="2150">
              <a:latin typeface="Century Gothic" charset="0"/>
              <a:ea typeface="Century Gothic" charset="0"/>
              <a:cs typeface="Century Gothic" charset="0"/>
            </a:endParaRPr>
          </a:p>
        </p:txBody>
      </p:sp>
      <p:pic>
        <p:nvPicPr>
          <p:cNvPr id="3" name="Picture 2">
            <a:extLst>
              <a:ext uri="{FF2B5EF4-FFF2-40B4-BE49-F238E27FC236}">
                <a16:creationId xmlns:a16="http://schemas.microsoft.com/office/drawing/2014/main" id="{779F16DD-D239-4726-A2F3-D52DA85FCE7F}"/>
              </a:ext>
            </a:extLst>
          </p:cNvPr>
          <p:cNvPicPr>
            <a:picLocks noChangeAspect="1"/>
          </p:cNvPicPr>
          <p:nvPr/>
        </p:nvPicPr>
        <p:blipFill>
          <a:blip r:embed="rId4"/>
          <a:stretch>
            <a:fillRect/>
          </a:stretch>
        </p:blipFill>
        <p:spPr>
          <a:xfrm>
            <a:off x="5117742" y="345847"/>
            <a:ext cx="6698772" cy="4870459"/>
          </a:xfrm>
          <a:prstGeom prst="rect">
            <a:avLst/>
          </a:prstGeom>
        </p:spPr>
      </p:pic>
    </p:spTree>
    <p:extLst>
      <p:ext uri="{BB962C8B-B14F-4D97-AF65-F5344CB8AC3E}">
        <p14:creationId xmlns:p14="http://schemas.microsoft.com/office/powerpoint/2010/main" val="1581618237"/>
      </p:ext>
    </p:extLst>
  </p:cSld>
  <p:clrMapOvr>
    <a:masterClrMapping/>
  </p:clrMapOvr>
  <p:transition/>
  <p:timing/>
</p:sld>
</file>

<file path=ppt/slides/slide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CHINA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608923" y="3955783"/>
            <a:ext cx="10244858" cy="1319336"/>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As China’s corn stocks decline in the coming years, its demand for imports is expected to grow dramatically, which will reshape world trade flows.</a:t>
            </a:r>
          </a:p>
          <a:p>
            <a:pPr marL="457200"/>
            <a:endParaRPr lang="en-US" sz="2150">
              <a:latin typeface="Century Gothic" charset="0"/>
              <a:ea typeface="Century Gothic" charset="0"/>
              <a:cs typeface="Century Gothic" charset="0"/>
            </a:endParaRPr>
          </a:p>
        </p:txBody>
      </p:sp>
      <p:pic>
        <p:nvPicPr>
          <p:cNvPr id="3" name="Picture 2">
            <a:extLst>
              <a:ext uri="{FF2B5EF4-FFF2-40B4-BE49-F238E27FC236}">
                <a16:creationId xmlns:a16="http://schemas.microsoft.com/office/drawing/2014/main" id="{D1376286-5E3F-48B3-B83B-5F5EAE2CC9DA}"/>
              </a:ext>
            </a:extLst>
          </p:cNvPr>
          <p:cNvPicPr>
            <a:picLocks noChangeAspect="1"/>
          </p:cNvPicPr>
          <p:nvPr/>
        </p:nvPicPr>
        <p:blipFill>
          <a:blip r:embed="rId4"/>
          <a:stretch>
            <a:fillRect/>
          </a:stretch>
        </p:blipFill>
        <p:spPr>
          <a:xfrm>
            <a:off x="1010267" y="345847"/>
            <a:ext cx="10739147" cy="3506074"/>
          </a:xfrm>
          <a:prstGeom prst="rect">
            <a:avLst/>
          </a:prstGeom>
        </p:spPr>
      </p:pic>
    </p:spTree>
    <p:extLst>
      <p:ext uri="{BB962C8B-B14F-4D97-AF65-F5344CB8AC3E}">
        <p14:creationId xmlns:p14="http://schemas.microsoft.com/office/powerpoint/2010/main" val="2232909807"/>
      </p:ext>
    </p:extLst>
  </p:cSld>
  <p:clrMapOvr>
    <a:masterClrMapping/>
  </p:clrMapOvr>
  <p:transition/>
  <p:timing/>
</p:sld>
</file>

<file path=ppt/slides/slide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19938" y="331947"/>
            <a:ext cx="10244858" cy="453790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Brazilian exports of corn have grown by more than 400 percent in the last ten years.</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Strong feed demand competes with exports for supplies.</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Production growth has been driven by the safrinha crop and may support growth in exports and domestic feed usage.</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The growth in the amount of total production represented by the safrinha crop has also increased the volatility in Brazilian output.</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Brazilian yields remain well below US yields and may continue to grow more slowly than US yields due to the variability of the safrinha crop.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Tree>
    <p:extLst>
      <p:ext uri="{BB962C8B-B14F-4D97-AF65-F5344CB8AC3E}">
        <p14:creationId xmlns:p14="http://schemas.microsoft.com/office/powerpoint/2010/main" val="4199934079"/>
      </p:ext>
    </p:extLst>
  </p:cSld>
  <p:clrMapOvr>
    <a:masterClrMapping/>
  </p:clrMapOvr>
  <p:transition/>
  <p:timing/>
</p:sld>
</file>

<file path=ppt/slides/slide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9BA2FCC1-E9BC-4859-B621-34BCD3809B6B}"/>
              </a:ext>
            </a:extLst>
          </p:cNvPr>
          <p:cNvPicPr>
            <a:picLocks noChangeAspect="1"/>
          </p:cNvPicPr>
          <p:nvPr/>
        </p:nvPicPr>
        <p:blipFill>
          <a:blip r:embed="rId4"/>
          <a:stretch>
            <a:fillRect/>
          </a:stretch>
        </p:blipFill>
        <p:spPr>
          <a:xfrm>
            <a:off x="5265985" y="345847"/>
            <a:ext cx="6706134" cy="4870459"/>
          </a:xfrm>
          <a:prstGeom prst="rect">
            <a:avLst/>
          </a:prstGeom>
        </p:spPr>
      </p:pic>
      <p:sp>
        <p:nvSpPr>
          <p:cNvPr id="13" name="Shape 497">
            <a:extLst>
              <a:ext uri="{FF2B5EF4-FFF2-40B4-BE49-F238E27FC236}">
                <a16:creationId xmlns:a16="http://schemas.microsoft.com/office/drawing/2014/main" id="{B68091D4-4FA8-4A88-81D1-D402C81B051E}"/>
              </a:ext>
            </a:extLst>
          </p:cNvPr>
          <p:cNvSpPr/>
          <p:nvPr/>
        </p:nvSpPr>
        <p:spPr>
          <a:xfrm>
            <a:off x="608923" y="422803"/>
            <a:ext cx="4508819" cy="2808205"/>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The growth in Brazilian corn production has been driven entirely by the growth in the safrinha crop. However, total Brazilian production remain relatively stable and has become more volatile as the safrinha crop has grown.</a:t>
            </a:r>
          </a:p>
          <a:p>
            <a:pPr marL="457200"/>
            <a:endParaRPr lang="en-US" sz="2150">
              <a:latin typeface="Century Gothic" charset="0"/>
              <a:ea typeface="Century Gothic" charset="0"/>
              <a:cs typeface="Century Gothic" charset="0"/>
            </a:endParaRPr>
          </a:p>
        </p:txBody>
      </p:sp>
    </p:spTree>
    <p:extLst>
      <p:ext uri="{BB962C8B-B14F-4D97-AF65-F5344CB8AC3E}">
        <p14:creationId xmlns:p14="http://schemas.microsoft.com/office/powerpoint/2010/main" val="409473534"/>
      </p:ext>
    </p:extLst>
  </p:cSld>
  <p:clrMapOvr>
    <a:masterClrMapping/>
  </p:clrMapOvr>
  <p:transition/>
  <p:timing/>
</p:sld>
</file>

<file path=ppt/slides/slide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608923" y="4104670"/>
            <a:ext cx="10244858" cy="1021562"/>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Growth in acreage will be key determinant in the level of Brazilian exports in the coming years. </a:t>
            </a:r>
          </a:p>
          <a:p>
            <a:pPr marL="457200"/>
            <a:endParaRPr lang="en-US" sz="2150">
              <a:latin typeface="Century Gothic" charset="0"/>
              <a:ea typeface="Century Gothic" charset="0"/>
              <a:cs typeface="Century Gothic" charset="0"/>
            </a:endParaRPr>
          </a:p>
        </p:txBody>
      </p:sp>
      <p:pic>
        <p:nvPicPr>
          <p:cNvPr id="2" name="Picture 1">
            <a:extLst>
              <a:ext uri="{FF2B5EF4-FFF2-40B4-BE49-F238E27FC236}">
                <a16:creationId xmlns:a16="http://schemas.microsoft.com/office/drawing/2014/main" id="{ADC954D2-CAF7-49D2-8A06-B509ED2B9C44}"/>
              </a:ext>
            </a:extLst>
          </p:cNvPr>
          <p:cNvPicPr>
            <a:picLocks noChangeAspect="1"/>
          </p:cNvPicPr>
          <p:nvPr/>
        </p:nvPicPr>
        <p:blipFill>
          <a:blip r:embed="rId4"/>
          <a:stretch>
            <a:fillRect/>
          </a:stretch>
        </p:blipFill>
        <p:spPr>
          <a:xfrm>
            <a:off x="1010267" y="345847"/>
            <a:ext cx="10750791" cy="3509876"/>
          </a:xfrm>
          <a:prstGeom prst="rect">
            <a:avLst/>
          </a:prstGeom>
        </p:spPr>
      </p:pic>
    </p:spTree>
    <p:extLst>
      <p:ext uri="{BB962C8B-B14F-4D97-AF65-F5344CB8AC3E}">
        <p14:creationId xmlns:p14="http://schemas.microsoft.com/office/powerpoint/2010/main" val="3790871000"/>
      </p:ext>
    </p:extLst>
  </p:cSld>
  <p:clrMapOvr>
    <a:masterClrMapping/>
  </p:clrMapOvr>
  <p:transition/>
  <p:timing/>
</p:sld>
</file>

<file path=ppt/slides/slide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UKRAINE</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19938" y="668193"/>
            <a:ext cx="10244858" cy="3865417"/>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Ukraine corn exports have grown dramatically in recent years but may be limited in the longer term.</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Growth in planted acreage may be limited in the longer term following changes to support programs and increase in oilseed production.</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Ukraine enjoys logistical advantage to EU-28 and China.</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The relatively large percentage of Ukraine exports to smaller countries may support growth in shipments to China. </a:t>
            </a:r>
          </a:p>
          <a:p>
            <a:pPr marL="457200"/>
            <a:endParaRPr lang="en-US" sz="2150">
              <a:latin typeface="Century Gothic" charset="0"/>
              <a:ea typeface="Century Gothic" charset="0"/>
              <a:cs typeface="Century Gothic" charset="0"/>
            </a:endParaRP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Tree>
    <p:extLst>
      <p:ext uri="{BB962C8B-B14F-4D97-AF65-F5344CB8AC3E}">
        <p14:creationId xmlns:p14="http://schemas.microsoft.com/office/powerpoint/2010/main" val="4154006873"/>
      </p:ext>
    </p:extLst>
  </p:cSld>
  <p:clrMapOvr>
    <a:masterClrMapping/>
  </p:clrMapOvr>
  <p:transition/>
  <p:timing/>
</p:sld>
</file>

<file path=ppt/slides/slide1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UKRAINE</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5" name="Picture 4">
            <a:extLst>
              <a:ext uri="{FF2B5EF4-FFF2-40B4-BE49-F238E27FC236}">
                <a16:creationId xmlns:a16="http://schemas.microsoft.com/office/drawing/2014/main" id="{3505D545-3623-467B-800E-A462AEE5D334}"/>
              </a:ext>
            </a:extLst>
          </p:cNvPr>
          <p:cNvPicPr>
            <a:picLocks noChangeAspect="1"/>
          </p:cNvPicPr>
          <p:nvPr/>
        </p:nvPicPr>
        <p:blipFill>
          <a:blip r:embed="rId4"/>
          <a:stretch>
            <a:fillRect/>
          </a:stretch>
        </p:blipFill>
        <p:spPr>
          <a:xfrm>
            <a:off x="5351331" y="345847"/>
            <a:ext cx="6706133" cy="4870459"/>
          </a:xfrm>
          <a:prstGeom prst="rect">
            <a:avLst/>
          </a:prstGeom>
        </p:spPr>
      </p:pic>
      <p:sp>
        <p:nvSpPr>
          <p:cNvPr id="14" name="Shape 497">
            <a:extLst>
              <a:ext uri="{FF2B5EF4-FFF2-40B4-BE49-F238E27FC236}">
                <a16:creationId xmlns:a16="http://schemas.microsoft.com/office/drawing/2014/main" id="{B2277C6E-EB67-4A49-9966-AB6F93DE915E}"/>
              </a:ext>
            </a:extLst>
          </p:cNvPr>
          <p:cNvSpPr/>
          <p:nvPr/>
        </p:nvSpPr>
        <p:spPr>
          <a:xfrm>
            <a:off x="490809" y="720565"/>
            <a:ext cx="4419642" cy="266431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Ukraine is the largest exporter of corn to the European Union and China and supplies more than 50 percent of imports to each.</a:t>
            </a: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p:txBody>
      </p:sp>
    </p:spTree>
    <p:extLst>
      <p:ext uri="{BB962C8B-B14F-4D97-AF65-F5344CB8AC3E}">
        <p14:creationId xmlns:p14="http://schemas.microsoft.com/office/powerpoint/2010/main" val="3425500280"/>
      </p:ext>
    </p:extLst>
  </p:cSld>
  <p:clrMapOvr>
    <a:masterClrMapping/>
  </p:clrMapOvr>
  <p:transition/>
  <p:timing/>
</p:sld>
</file>

<file path=ppt/slides/slide1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UKRAINE</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608923" y="3955783"/>
            <a:ext cx="10244858" cy="1319336"/>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The potential for limited growth in acreage due to changes in Ukraine’s agricultural policy. In addition, political uncertainty may limit the growth of Ukrainian corn exports in the long term. </a:t>
            </a:r>
          </a:p>
          <a:p>
            <a:pPr marL="457200"/>
            <a:endParaRPr lang="en-US" sz="2150">
              <a:latin typeface="Century Gothic" charset="0"/>
              <a:ea typeface="Century Gothic" charset="0"/>
              <a:cs typeface="Century Gothic" charset="0"/>
            </a:endParaRPr>
          </a:p>
        </p:txBody>
      </p:sp>
      <p:pic>
        <p:nvPicPr>
          <p:cNvPr id="3" name="Picture 2">
            <a:extLst>
              <a:ext uri="{FF2B5EF4-FFF2-40B4-BE49-F238E27FC236}">
                <a16:creationId xmlns:a16="http://schemas.microsoft.com/office/drawing/2014/main" id="{A1CCB10E-785A-4D69-8C65-8DC5F68A12B4}"/>
              </a:ext>
            </a:extLst>
          </p:cNvPr>
          <p:cNvPicPr>
            <a:picLocks noChangeAspect="1"/>
          </p:cNvPicPr>
          <p:nvPr/>
        </p:nvPicPr>
        <p:blipFill>
          <a:blip r:embed="rId4"/>
          <a:stretch>
            <a:fillRect/>
          </a:stretch>
        </p:blipFill>
        <p:spPr>
          <a:xfrm>
            <a:off x="1010267" y="345847"/>
            <a:ext cx="10750791" cy="3509876"/>
          </a:xfrm>
          <a:prstGeom prst="rect">
            <a:avLst/>
          </a:prstGeom>
        </p:spPr>
      </p:pic>
    </p:spTree>
    <p:extLst>
      <p:ext uri="{BB962C8B-B14F-4D97-AF65-F5344CB8AC3E}">
        <p14:creationId xmlns:p14="http://schemas.microsoft.com/office/powerpoint/2010/main" val="4008916483"/>
      </p:ext>
    </p:extLst>
  </p:cSld>
  <p:clrMapOvr>
    <a:masterClrMapping/>
  </p:clrMapOvr>
  <p:transition/>
  <p:timing/>
</p:sld>
</file>

<file path=ppt/slides/slide1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05650" y="345847"/>
            <a:ext cx="10244858" cy="5210401"/>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The US is the residual corn exporter outside of the Western Hemisphere.</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Changes in US environmental policy could have a significant impact on the availability of US exports.</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The US advantage over the rest of the world in yields may translate into economic advantage that will favor corn production in the US in the long term.</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Two of the largest destinations for US corn exports (Japan and Mexico) have significant advantages (favor US quality, logistical) that will make it difficult to significantly reduce US volumes shipped to those countries. </a:t>
            </a: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Tree>
    <p:extLst>
      <p:ext uri="{BB962C8B-B14F-4D97-AF65-F5344CB8AC3E}">
        <p14:creationId xmlns:p14="http://schemas.microsoft.com/office/powerpoint/2010/main" val="2347712443"/>
      </p:ext>
    </p:extLst>
  </p:cSld>
  <p:clrMapOvr>
    <a:masterClrMapping/>
  </p:clrMapOvr>
  <p:transition/>
  <p:timing/>
</p:sld>
</file>

<file path=ppt/slides/slide1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608923" y="345847"/>
            <a:ext cx="4419642" cy="393235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While the US has “anchor” destinations, it exports significant volumes to smaller Western Hemisphere countries that are price sensitive and may be better served by South American countries.</a:t>
            </a: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p:txBody>
      </p:sp>
      <p:pic>
        <p:nvPicPr>
          <p:cNvPr id="2" name="Picture 1">
            <a:extLst>
              <a:ext uri="{FF2B5EF4-FFF2-40B4-BE49-F238E27FC236}">
                <a16:creationId xmlns:a16="http://schemas.microsoft.com/office/drawing/2014/main" id="{859BE2D7-4574-4167-B745-0DC043D8DCD4}"/>
              </a:ext>
            </a:extLst>
          </p:cNvPr>
          <p:cNvPicPr>
            <a:picLocks noChangeAspect="1"/>
          </p:cNvPicPr>
          <p:nvPr/>
        </p:nvPicPr>
        <p:blipFill>
          <a:blip r:embed="rId4"/>
          <a:stretch>
            <a:fillRect/>
          </a:stretch>
        </p:blipFill>
        <p:spPr>
          <a:xfrm>
            <a:off x="5111004" y="346432"/>
            <a:ext cx="6705327" cy="4869874"/>
          </a:xfrm>
          <a:prstGeom prst="rect">
            <a:avLst/>
          </a:prstGeom>
        </p:spPr>
      </p:pic>
    </p:spTree>
    <p:extLst>
      <p:ext uri="{BB962C8B-B14F-4D97-AF65-F5344CB8AC3E}">
        <p14:creationId xmlns:p14="http://schemas.microsoft.com/office/powerpoint/2010/main" val="417441363"/>
      </p:ext>
    </p:extLst>
  </p:cSld>
  <p:clrMapOvr>
    <a:masterClrMapping/>
  </p:clrMapOvr>
  <p:transition/>
  <p:timing/>
</p:sld>
</file>

<file path=ppt/slides/slide1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608923" y="4104670"/>
            <a:ext cx="10244858" cy="1021562"/>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The potential for limited growth in acreage and political uncertainty may limit the growth of Ukrainian corn exports in the long term. </a:t>
            </a:r>
          </a:p>
          <a:p>
            <a:pPr marL="457200"/>
            <a:endParaRPr lang="en-US" sz="2150">
              <a:latin typeface="Century Gothic" charset="0"/>
              <a:ea typeface="Century Gothic" charset="0"/>
              <a:cs typeface="Century Gothic" charset="0"/>
            </a:endParaRPr>
          </a:p>
        </p:txBody>
      </p:sp>
      <p:pic>
        <p:nvPicPr>
          <p:cNvPr id="4" name="Picture 3">
            <a:extLst>
              <a:ext uri="{FF2B5EF4-FFF2-40B4-BE49-F238E27FC236}">
                <a16:creationId xmlns:a16="http://schemas.microsoft.com/office/drawing/2014/main" id="{FB91F285-1221-4754-B365-5B97EE809003}"/>
              </a:ext>
            </a:extLst>
          </p:cNvPr>
          <p:cNvPicPr>
            <a:picLocks noChangeAspect="1"/>
          </p:cNvPicPr>
          <p:nvPr/>
        </p:nvPicPr>
        <p:blipFill>
          <a:blip r:embed="rId4"/>
          <a:stretch>
            <a:fillRect/>
          </a:stretch>
        </p:blipFill>
        <p:spPr>
          <a:xfrm>
            <a:off x="1010267" y="345847"/>
            <a:ext cx="10750791" cy="3509876"/>
          </a:xfrm>
          <a:prstGeom prst="rect">
            <a:avLst/>
          </a:prstGeom>
        </p:spPr>
      </p:pic>
    </p:spTree>
    <p:extLst>
      <p:ext uri="{BB962C8B-B14F-4D97-AF65-F5344CB8AC3E}">
        <p14:creationId xmlns:p14="http://schemas.microsoft.com/office/powerpoint/2010/main" val="228571569"/>
      </p:ext>
    </p:extLst>
  </p:cSld>
  <p:clrMapOvr>
    <a:masterClrMapping/>
  </p:clrMapOvr>
  <p:transition/>
  <p:timing/>
</p:sld>
</file>

<file path=ppt/slides/slide1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625487" y="339622"/>
            <a:ext cx="4419642" cy="613603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000">
                <a:latin typeface="Century Gothic" charset="0"/>
                <a:ea typeface="Century Gothic" charset="0"/>
                <a:cs typeface="Century Gothic" charset="0"/>
              </a:rPr>
              <a:t>Growth in import demand from China may drive an increase in US exports and tightening global stocks. The resulting increase in corn prices could drive an increase in corn acreage in the near term.</a:t>
            </a:r>
          </a:p>
          <a:p>
            <a:pPr marL="457200"/>
            <a:endParaRPr lang="en-US" sz="2000">
              <a:latin typeface="Century Gothic" charset="0"/>
              <a:ea typeface="Century Gothic" charset="0"/>
              <a:cs typeface="Century Gothic" charset="0"/>
            </a:endParaRPr>
          </a:p>
          <a:p>
            <a:pPr marL="457200"/>
            <a:r>
              <a:rPr lang="en-US" sz="2000">
                <a:latin typeface="Century Gothic" charset="0"/>
                <a:ea typeface="Century Gothic" charset="0"/>
                <a:cs typeface="Century Gothic" charset="0"/>
              </a:rPr>
              <a:t>In the longer term, the US advantage in yields and production economics may ultimately result in increased specialization in production with the US producing more corn and South America producing more soybeans.</a:t>
            </a: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a:p>
            <a:pPr marL="457200"/>
            <a:endParaRPr lang="en-US" sz="2150">
              <a:latin typeface="Century Gothic" charset="0"/>
              <a:ea typeface="Century Gothic" charset="0"/>
              <a:cs typeface="Century Gothic" charset="0"/>
            </a:endParaRPr>
          </a:p>
        </p:txBody>
      </p:sp>
      <p:pic>
        <p:nvPicPr>
          <p:cNvPr id="4" name="Picture 3">
            <a:extLst>
              <a:ext uri="{FF2B5EF4-FFF2-40B4-BE49-F238E27FC236}">
                <a16:creationId xmlns:a16="http://schemas.microsoft.com/office/drawing/2014/main" id="{F7481CBA-E6B8-4906-B67D-C6415273B592}"/>
              </a:ext>
            </a:extLst>
          </p:cNvPr>
          <p:cNvPicPr>
            <a:picLocks noChangeAspect="1"/>
          </p:cNvPicPr>
          <p:nvPr/>
        </p:nvPicPr>
        <p:blipFill>
          <a:blip r:embed="rId4"/>
          <a:stretch>
            <a:fillRect/>
          </a:stretch>
        </p:blipFill>
        <p:spPr>
          <a:xfrm>
            <a:off x="5326280" y="345847"/>
            <a:ext cx="6706133" cy="4870459"/>
          </a:xfrm>
          <a:prstGeom prst="rect">
            <a:avLst/>
          </a:prstGeom>
        </p:spPr>
      </p:pic>
    </p:spTree>
    <p:extLst>
      <p:ext uri="{BB962C8B-B14F-4D97-AF65-F5344CB8AC3E}">
        <p14:creationId xmlns:p14="http://schemas.microsoft.com/office/powerpoint/2010/main" val="2089479165"/>
      </p:ext>
    </p:extLst>
  </p:cSld>
  <p:clrMapOvr>
    <a:masterClrMapping/>
  </p:clrMapOvr>
  <p:transition/>
  <p:timing/>
</p:sld>
</file>

<file path=ppt/tags/tag1.xml><?xml version="1.0" encoding="utf-8"?>
<p:tagLst xmlns:p="http://schemas.openxmlformats.org/presentationml/2006/main">
  <p:tag name="AS_NET" val="4.0.30319.42000"/>
  <p:tag name="AS_OS" val="Microsoft Windows NT 10.0.14393.0"/>
  <p:tag name="AS_RELEASE_DATE" val="2018.12.12"/>
  <p:tag name="AS_TITLE" val="Aspose.Slides for .NET 4.0"/>
  <p:tag name="AS_VERSION" val="18.1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10BE37ED0A674AAABCCCF211CFB64F" ma:contentTypeVersion="16" ma:contentTypeDescription="Create a new document." ma:contentTypeScope="" ma:versionID="29a6905665880213066aaa9aaf14929c">
  <xsd:schema xmlns:xsd="http://www.w3.org/2001/XMLSchema" xmlns:xs="http://www.w3.org/2001/XMLSchema" xmlns:p="http://schemas.microsoft.com/office/2006/metadata/properties" xmlns:ns2="cf2ac421-1284-4088-96c3-18e1d2d8f03a" xmlns:ns3="0052aaab-b9fb-4904-b07b-fd4c19a80e9a" targetNamespace="http://schemas.microsoft.com/office/2006/metadata/properties" ma:root="true" ma:fieldsID="3af383b8dc086b58afe32f0c8bed5599" ns2:_="" ns3:_="">
    <xsd:import namespace="cf2ac421-1284-4088-96c3-18e1d2d8f03a"/>
    <xsd:import namespace="0052aaab-b9fb-4904-b07b-fd4c19a80e9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2ac421-1284-4088-96c3-18e1d2d8f03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4598ee4-d5e5-4f6c-b9da-4d48f8cc1368}" ma:internalName="TaxCatchAll" ma:showField="CatchAllData" ma:web="cf2ac421-1284-4088-96c3-18e1d2d8f03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052aaab-b9fb-4904-b07b-fd4c19a80e9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ddd575e-f966-4c21-8ccb-2dbfe9c821f2"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f2ac421-1284-4088-96c3-18e1d2d8f03a" xsi:nil="true"/>
    <lcf76f155ced4ddcb4097134ff3c332f xmlns="0052aaab-b9fb-4904-b07b-fd4c19a80e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4A63C6A-BE89-48DC-A6C4-CE8A8CA7F261}"/>
</file>

<file path=customXml/itemProps2.xml><?xml version="1.0" encoding="utf-8"?>
<ds:datastoreItem xmlns:ds="http://schemas.openxmlformats.org/officeDocument/2006/customXml" ds:itemID="{86639726-AF19-402A-AA58-F18E8187A3E2}"/>
</file>

<file path=customXml/itemProps3.xml><?xml version="1.0" encoding="utf-8"?>
<ds:datastoreItem xmlns:ds="http://schemas.openxmlformats.org/officeDocument/2006/customXml" ds:itemID="{33AD40AF-1D5D-4ECE-AE03-9188834EDE89}"/>
</file>

<file path=docProps/app.xml><?xml version="1.0" encoding="utf-8"?>
<Properties xmlns:vt="http://schemas.openxmlformats.org/officeDocument/2006/docPropsVTypes" xmlns="http://schemas.openxmlformats.org/officeDocument/2006/extended-properties">
  <Company/>
  <PresentationFormat>Widescreen</PresentationFormat>
  <Paragraphs>53</Paragraphs>
  <Slides>15</Slides>
  <Notes>14</Notes>
  <TotalTime>509</TotalTime>
  <HiddenSlides>0</HiddenSlides>
  <MMClips>0</MMClips>
  <ScaleCrop>0</ScaleCrop>
  <HeadingPairs>
    <vt:vector baseType="variant" size="4">
      <vt:variant>
        <vt:lpstr>Theme</vt:lpstr>
      </vt:variant>
      <vt:variant>
        <vt:i4>1</vt:i4>
      </vt:variant>
      <vt:variant>
        <vt:lpstr>Slide Titles</vt:lpstr>
      </vt:variant>
      <vt:variant>
        <vt:i4>15</vt:i4>
      </vt:variant>
    </vt:vector>
  </HeadingPairs>
  <TitlesOfParts>
    <vt:vector baseType="lpstr" size="16">
      <vt:lpstr>Office Theme</vt:lpstr>
      <vt:lpstr>Slide 1</vt:lpstr>
      <vt:lpstr>Slide 2</vt:lpstr>
      <vt:lpstr>CHINA</vt:lpstr>
      <vt:lpstr>CHINA</vt:lpstr>
      <vt:lpstr>CHINA</vt:lpstr>
      <vt:lpstr>BRAZIL</vt:lpstr>
      <vt:lpstr>BRAZIL</vt:lpstr>
      <vt:lpstr>BRAZIL</vt:lpstr>
      <vt:lpstr>UKRAINE</vt:lpstr>
      <vt:lpstr>UKRAINE</vt:lpstr>
      <vt:lpstr>UKRAINE</vt:lpstr>
      <vt:lpstr>UNITED STATES</vt:lpstr>
      <vt:lpstr>UNITED STATES</vt:lpstr>
      <vt:lpstr>UNITED STATES</vt:lpstr>
      <vt:lpstr>UNITED STATES</vt:lpstr>
    </vt:vector>
  </TitlesOfParts>
  <LinksUpToDate>0</LinksUpToDate>
  <SharedDoc>0</SharedDoc>
  <HyperlinksChanged>0</HyperlinksChanged>
  <Application>Aspose.Slides for .NET</Application>
  <AppVersion>18.1200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Tore Alden</dc:creator>
  <cp:lastModifiedBy>Tore Alden</cp:lastModifiedBy>
  <cp:revision>26</cp:revision>
  <dcterms:created xsi:type="dcterms:W3CDTF">2018-05-21T15:23:32Z</dcterms:created>
  <dcterms:modified xsi:type="dcterms:W3CDTF">2021-04-28T14:35:51Z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NKTEK-CHUNK-1">
    <vt:lpwstr>010021{"F":2,"I":"AFC2-97DC-F5EF-D5FC"}</vt:lpwstr>
  </property>
  <property fmtid="{D5CDD505-2E9C-101B-9397-08002B2CF9AE}" pid="3" name="ContentTypeId">
    <vt:lpwstr>0x010100C810BE37ED0A674AAABCCCF211CFB64F</vt:lpwstr>
  </property>
  <property fmtid="{D5CDD505-2E9C-101B-9397-08002B2CF9AE}" pid="4" name="Order">
    <vt:r8>2700</vt:r8>
  </property>
</Properties>
</file>