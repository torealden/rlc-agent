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emf" ContentType="image/x-e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NET 18.12-->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686" r:id="rId3"/>
    <p:sldId id="619" r:id="rId4"/>
    <p:sldId id="688" r:id="rId5"/>
    <p:sldId id="687" r:id="rId6"/>
    <p:sldId id="689" r:id="rId7"/>
    <p:sldId id="694" r:id="rId8"/>
    <p:sldId id="690" r:id="rId9"/>
    <p:sldId id="693" r:id="rId10"/>
    <p:sldId id="691" r:id="rId11"/>
    <p:sldId id="692" r:id="rId12"/>
    <p:sldId id="695" r:id="rId13"/>
    <p:sldId id="696" r:id="rId14"/>
    <p:sldId id="697" r:id="rId15"/>
    <p:sldId id="698" r:id="rId16"/>
    <p:sldId id="699" r:id="rId17"/>
    <p:sldId id="700" r:id="rId18"/>
    <p:sldId id="701" r:id="rId19"/>
    <p:sldId id="707" r:id="rId20"/>
    <p:sldId id="702" r:id="rId21"/>
    <p:sldId id="703" r:id="rId22"/>
    <p:sldId id="704" r:id="rId23"/>
    <p:sldId id="705" r:id="rId24"/>
    <p:sldId id="706" r:id="rId25"/>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0" d="100"/>
          <a:sy n="80" d="100"/>
        </p:scale>
        <p:origin x="480" y="90"/>
      </p:cViewPr>
      <p:guideLst/>
    </p:cSldViewPr>
  </p:slideViewPr>
  <p:notesTextViewPr>
    <p:cViewPr>
      <p:scale>
        <a:sx n="1" d="1"/>
        <a:sy n="1" d="1"/>
      </p:scale>
      <p:origin x="0" y="0"/>
    </p:cViewPr>
  </p:notesTextViewPr>
  <p:notesViewPr>
    <p:cSldViewPr>
      <p:cViewPr>
        <p:scale>
          <a:sx n="1" d="100"/>
          <a:sy n="1" d="100"/>
        </p:scale>
        <p:origin x="0" y="0"/>
      </p:cViewPr>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gs" Target="tags/tag1.xml"/><Relationship Id="rId21" Type="http://schemas.openxmlformats.org/officeDocument/2006/relationships/slide" Target="slides/slide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7" Type="http://schemas.openxmlformats.org/officeDocument/2006/relationships/slide" Target="slides/slide5.xml"/><Relationship Id="rId33" Type="http://schemas.openxmlformats.org/officeDocument/2006/relationships/customXml" Target="../customXml/item3.xml"/><Relationship Id="rId16" Type="http://schemas.openxmlformats.org/officeDocument/2006/relationships/slide" Target="slides/slide14.xml"/><Relationship Id="rId2" Type="http://schemas.openxmlformats.org/officeDocument/2006/relationships/notesMaster" Target="notesMasters/notesMaster1.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11" Type="http://schemas.openxmlformats.org/officeDocument/2006/relationships/slide" Target="slides/slide9.xml"/><Relationship Id="rId24" Type="http://schemas.openxmlformats.org/officeDocument/2006/relationships/slide" Target="slides/slide22.xml"/><Relationship Id="rId6" Type="http://schemas.openxmlformats.org/officeDocument/2006/relationships/slide" Target="slides/slide4.xml"/><Relationship Id="rId32" Type="http://schemas.openxmlformats.org/officeDocument/2006/relationships/customXml" Target="../customXml/item2.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ustomXml" Target="../customXml/item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8" Type="http://schemas.openxmlformats.org/officeDocument/2006/relationships/slide" Target="slides/slide6.xml"/></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6070E4-2A95-414E-8F51-C7D1AC3C0637}" type="datetimeFigureOut">
              <a:rPr lang="en-US" smtClean="0"/>
              <a:t>5/22/2018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C6996-DABD-47EC-AB3E-B1C5501F1027}" type="slidenum">
              <a:rPr lang="en-US" smtClean="0"/>
              <a:t>‹#›</a:t>
            </a:fld>
            <a:endParaRPr lang="en-US"/>
          </a:p>
        </p:txBody>
      </p:sp>
    </p:spTree>
    <p:extLst>
      <p:ext uri="{BB962C8B-B14F-4D97-AF65-F5344CB8AC3E}">
        <p14:creationId xmlns:p14="http://schemas.microsoft.com/office/powerpoint/2010/main" val="270506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98514363"/>
      </p:ext>
    </p:extLst>
  </p:cSld>
  <p:clrMapOvr>
    <a:masterClrMapping/>
  </p:clrMapOvr>
</p:notes>
</file>

<file path=ppt/notesSlides/notesSlide2.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93278915"/>
      </p:ext>
    </p:extLst>
  </p:cSld>
  <p:clrMapOvr>
    <a:masterClrMapping/>
  </p:clrMapOvr>
</p:notes>
</file>

<file path=ppt/notesSlides/notesSlide3.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42484850"/>
      </p:ext>
    </p:extLst>
  </p:cSld>
  <p:clrMapOvr>
    <a:masterClrMapping/>
  </p:clrMapOvr>
</p:notes>
</file>

<file path=ppt/notesSlides/notesSlide4.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65950879"/>
      </p:ext>
    </p:extLst>
  </p:cSld>
  <p:clrMapOvr>
    <a:masterClrMapping/>
  </p:clrMapOvr>
</p:notes>
</file>

<file path=ppt/notesSlides/notesSlide5.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38948073"/>
      </p:ext>
    </p:extLst>
  </p:cSld>
  <p:clrMapOvr>
    <a:masterClrMapping/>
  </p:clrMapOvr>
</p:notes>
</file>

<file path=ppt/notesSlides/notesSlide6.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27082607"/>
      </p:ext>
    </p:extLst>
  </p:cSld>
  <p:clrMapOvr>
    <a:masterClrMapping/>
  </p:clrMapOvr>
</p:notes>
</file>

<file path=ppt/notesSlides/notesSlide7.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06537434"/>
      </p:ext>
    </p:extLst>
  </p:cSld>
  <p:clrMapOvr>
    <a:masterClrMapping/>
  </p:clrMapOvr>
</p:notes>
</file>

<file path=ppt/notesSlides/notesSlide8.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63319648"/>
      </p:ext>
    </p:extLst>
  </p:cSld>
  <p:clrMapOvr>
    <a:masterClrMapping/>
  </p:clrMapOvr>
</p:notes>
</file>

<file path=ppt/notesSlides/notesSlide9.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49541907"/>
      </p:ext>
    </p:extLst>
  </p:cSld>
  <p:clrMapOvr>
    <a:masterClrMapping/>
  </p:clrMapOvr>
</p:notes>
</file>

<file path=ppt/notesSlides/notesSlide10.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67224316"/>
      </p:ext>
    </p:extLst>
  </p:cSld>
  <p:clrMapOvr>
    <a:masterClrMapping/>
  </p:clrMapOvr>
</p:notes>
</file>

<file path=ppt/notesSlides/notesSlide1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88019807"/>
      </p:ext>
    </p:extLst>
  </p:cSld>
  <p:clrMapOvr>
    <a:masterClrMapping/>
  </p:clrMapOvr>
</p:notes>
</file>

<file path=ppt/notesSlides/notesSlide12.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49153394"/>
      </p:ext>
    </p:extLst>
  </p:cSld>
  <p:clrMapOvr>
    <a:masterClrMapping/>
  </p:clrMapOvr>
</p:notes>
</file>

<file path=ppt/notesSlides/notesSlide13.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06964330"/>
      </p:ext>
    </p:extLst>
  </p:cSld>
  <p:clrMapOvr>
    <a:masterClrMapping/>
  </p:clrMapOvr>
</p:notes>
</file>

<file path=ppt/notesSlides/notesSlide14.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84915487"/>
      </p:ext>
    </p:extLst>
  </p:cSld>
  <p:clrMapOvr>
    <a:masterClrMapping/>
  </p:clrMapOvr>
</p:notes>
</file>

<file path=ppt/notesSlides/notesSlide15.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23797011"/>
      </p:ext>
    </p:extLst>
  </p:cSld>
  <p:clrMapOvr>
    <a:masterClrMapping/>
  </p:clrMapOvr>
</p:notes>
</file>

<file path=ppt/notesSlides/notesSlide16.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85773671"/>
      </p:ext>
    </p:extLst>
  </p:cSld>
  <p:clrMapOvr>
    <a:masterClrMapping/>
  </p:clrMapOvr>
</p:notes>
</file>

<file path=ppt/notesSlides/notesSlide17.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74675055"/>
      </p:ext>
    </p:extLst>
  </p:cSld>
  <p:clrMapOvr>
    <a:masterClrMapping/>
  </p:clrMapOvr>
</p:notes>
</file>

<file path=ppt/notesSlides/notesSlide18.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54472310"/>
      </p:ext>
    </p:extLst>
  </p:cSld>
  <p:clrMapOvr>
    <a:masterClrMapping/>
  </p:clrMapOvr>
</p:notes>
</file>

<file path=ppt/notesSlides/notesSlide19.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74288648"/>
      </p:ext>
    </p:extLst>
  </p:cSld>
  <p:clrMapOvr>
    <a:masterClrMapping/>
  </p:clrMapOvr>
</p:notes>
</file>

<file path=ppt/notesSlides/notesSlide20.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73589187"/>
      </p:ext>
    </p:extLst>
  </p:cSld>
  <p:clrMapOvr>
    <a:masterClrMapping/>
  </p:clrMapOvr>
</p:notes>
</file>

<file path=ppt/notesSlides/notesSlide2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47983149"/>
      </p:ext>
    </p:extLst>
  </p:cSld>
  <p:clrMapOvr>
    <a:masterClrMapping/>
  </p:clrMapOvr>
</p:notes>
</file>

<file path=ppt/notesSlides/notesSlide22.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p:spTree>
      <p:nvGrpSpPr>
        <p:cNvPr id="1" name=""/>
        <p:cNvGrpSpPr/>
        <p:nvPr/>
      </p:nvGrpSpPr>
      <p:grpSpPr>
        <a:xfrm>
          <a:off x="0" y="0"/>
          <a: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85831902"/>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 preserve="1">
  <p:cSld name="Title Slide">
    <p:spTree>
      <p:nvGrpSpPr>
        <p:cNvPr id="1" name=""/>
        <p:cNvGrpSpPr/>
        <p:nvPr/>
      </p:nvGrpSpPr>
      <p:grpSpPr>
        <a:xfrm>
          <a:off x="0" y="0"/>
          <a:ext cx="0" cy="0"/>
        </a:xfrm>
      </p:grpSpPr>
      <p:sp>
        <p:nvSpPr>
          <p:cNvPr id="2" name="Title 1">
            <a:extLst>
              <a:ext uri="{FF2B5EF4-FFF2-40B4-BE49-F238E27FC236}">
                <a16:creationId xmlns:a16="http://schemas.microsoft.com/office/drawing/2014/main" id="{0B4A3CED-05B8-4658-835E-A72207DE9E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F26570-5581-4270-A6AF-A733C5325C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5BA8FF-68F6-4694-9E3B-317EF619AE7B}"/>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B80B7150-7EF7-46A0-B78D-C1922EDD55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62876-D0F9-42B5-9D75-574E8EB91647}"/>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633866644"/>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371A5962-127A-4691-B914-C5632F003F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9373A6-6D9C-4EDD-9BA0-2B92F9BABCC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2A3731-6C31-4D3D-ADA6-578A8FC27CE1}"/>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7109466C-FD64-4503-A881-A53E44D9BE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8E733-9E4E-4CAD-89CB-BAEA05A3003B}"/>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1609329891"/>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secHead" preserve="1">
  <p:cSld name="Section Header">
    <p:spTree>
      <p:nvGrpSpPr>
        <p:cNvPr id="1" name=""/>
        <p:cNvGrpSpPr/>
        <p:nvPr/>
      </p:nvGrpSpPr>
      <p:grpSpPr>
        <a:xfrm>
          <a:off x="0" y="0"/>
          <a:ext cx="0" cy="0"/>
        </a:xfrm>
      </p:grpSpPr>
      <p:sp>
        <p:nvSpPr>
          <p:cNvPr id="2" name="Title 1">
            <a:extLst>
              <a:ext uri="{FF2B5EF4-FFF2-40B4-BE49-F238E27FC236}">
                <a16:creationId xmlns:a16="http://schemas.microsoft.com/office/drawing/2014/main" id="{BADD2C17-5E0D-4846-A957-A76A2ABC5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1078B7-268F-43FB-A08D-FAFB357BA9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AB762E9-AFE1-4F12-953E-553149855116}"/>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F6EC96A2-7B1A-45F4-801E-3FD80797F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22F8E-4815-4070-8B6C-B63594D1D1B0}"/>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925668286"/>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Obj" preserve="1">
  <p:cSld name="Two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ABBC1585-87FB-4345-B1BD-6C3CE8482F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14141C-D512-45D5-BC4C-E5705DC6B1D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DEA2E-1352-4B9A-8971-2DEAF4A2776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A1AC78-3CBF-41CF-A57B-19A6969A7928}"/>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6" name="Footer Placeholder 5">
            <a:extLst>
              <a:ext uri="{FF2B5EF4-FFF2-40B4-BE49-F238E27FC236}">
                <a16:creationId xmlns:a16="http://schemas.microsoft.com/office/drawing/2014/main" id="{DADA10E4-F890-4D63-9062-90ABE86CBD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1E7A79-508E-4AFD-AA1B-85DD9EFF188B}"/>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619830779"/>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woTxTwoObj" preserve="1">
  <p:cSld name="Comparison">
    <p:spTree>
      <p:nvGrpSpPr>
        <p:cNvPr id="1" name=""/>
        <p:cNvGrpSpPr/>
        <p:nvPr/>
      </p:nvGrpSpPr>
      <p:grpSpPr>
        <a:xfrm>
          <a:off x="0" y="0"/>
          <a:ext cx="0" cy="0"/>
        </a:xfrm>
      </p:grpSpPr>
      <p:sp>
        <p:nvSpPr>
          <p:cNvPr id="2" name="Title 1">
            <a:extLst>
              <a:ext uri="{FF2B5EF4-FFF2-40B4-BE49-F238E27FC236}">
                <a16:creationId xmlns:a16="http://schemas.microsoft.com/office/drawing/2014/main" id="{7A271A84-14F0-4EE6-8768-B838269018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86DA9E-2C2C-4631-B99C-E0569D1BEA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9A7A93C-5FDA-4DE2-8652-D5C6C6ABD97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49DDF-99E9-4D0A-B848-DE9CD50BC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D00F49D-D204-4123-A1E2-E6C285DDAD6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2292B2-3FB1-431C-B4C5-E0A0EAF8D8CB}"/>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8" name="Footer Placeholder 7">
            <a:extLst>
              <a:ext uri="{FF2B5EF4-FFF2-40B4-BE49-F238E27FC236}">
                <a16:creationId xmlns:a16="http://schemas.microsoft.com/office/drawing/2014/main" id="{1AAE7F79-A36B-4DE6-9093-9657F50F17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E07DF7-6C18-4580-BBF7-D426B0082808}"/>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3450019733"/>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D3BB4A1D-5703-4CF0-A5CB-3CDB9F2032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491F24-F2E9-4B4A-A411-99D48208B485}"/>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4" name="Footer Placeholder 3">
            <a:extLst>
              <a:ext uri="{FF2B5EF4-FFF2-40B4-BE49-F238E27FC236}">
                <a16:creationId xmlns:a16="http://schemas.microsoft.com/office/drawing/2014/main" id="{2195A94C-8470-437A-A2CE-3721318BF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EAA8C9-E4A0-4666-8C7B-C88E2BD59FB4}"/>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2197595141"/>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79852B12-AFD0-457C-B4F5-4F675869DFDD}"/>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3" name="Footer Placeholder 2">
            <a:extLst>
              <a:ext uri="{FF2B5EF4-FFF2-40B4-BE49-F238E27FC236}">
                <a16:creationId xmlns:a16="http://schemas.microsoft.com/office/drawing/2014/main" id="{A3507810-3840-426F-8151-5FE9B9A614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37FBF9-6258-4017-A904-23A354C48EC5}"/>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785182729"/>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objTx" preserve="1">
  <p:cSld name="Content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21243CE7-75A3-48E0-B1AD-6EEFD23DA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91A06B-8B1B-4A45-81DE-E19C90A0A8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586139-DC5E-4833-B58F-95433141D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7FEC8A8-56CA-422B-95A1-44AFD0B1BDA6}"/>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6" name="Footer Placeholder 5">
            <a:extLst>
              <a:ext uri="{FF2B5EF4-FFF2-40B4-BE49-F238E27FC236}">
                <a16:creationId xmlns:a16="http://schemas.microsoft.com/office/drawing/2014/main" id="{C01A0FA3-7A3C-4AC5-9F79-4C9E522FD4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C246AB-B8E3-4783-8681-AA4C79955223}"/>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494571811"/>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picTx" preserve="1">
  <p:cSld name="Picture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7CD9D157-8A11-454C-B50E-CEB949C89D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F5821-DAB2-4E25-AD2A-5A28691A0A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E730B6-0417-4C9E-8E1B-0014D2D2D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34DAB80-18AB-450A-B8F8-9366B7D93332}"/>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6" name="Footer Placeholder 5">
            <a:extLst>
              <a:ext uri="{FF2B5EF4-FFF2-40B4-BE49-F238E27FC236}">
                <a16:creationId xmlns:a16="http://schemas.microsoft.com/office/drawing/2014/main" id="{ACB54CC8-A259-4CB0-9324-8EE360CB8D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1DAA4F-2298-4143-820B-0B59A1378A70}"/>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605985786"/>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x" preserve="1">
  <p:cSld name="Title and Vertical Text">
    <p:spTree>
      <p:nvGrpSpPr>
        <p:cNvPr id="1" name=""/>
        <p:cNvGrpSpPr/>
        <p:nvPr/>
      </p:nvGrpSpPr>
      <p:grpSpPr>
        <a:xfrm>
          <a:off x="0" y="0"/>
          <a:ext cx="0" cy="0"/>
        </a:xfrm>
      </p:grpSpPr>
      <p:sp>
        <p:nvSpPr>
          <p:cNvPr id="2" name="Title 1">
            <a:extLst>
              <a:ext uri="{FF2B5EF4-FFF2-40B4-BE49-F238E27FC236}">
                <a16:creationId xmlns:a16="http://schemas.microsoft.com/office/drawing/2014/main" id="{C0F5AD99-0E94-4B14-8163-78003FCB9A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110A3F-5559-44CB-9484-C6DFFAE024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4545EF-9AD7-4FF8-AE45-32565E4CFFE3}"/>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7324D1EC-1D64-433D-BEE5-49E1DC941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437E63-E79D-4760-BC2E-E56017990828}"/>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891253319"/>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a:extLst>
              <a:ext uri="{FF2B5EF4-FFF2-40B4-BE49-F238E27FC236}">
                <a16:creationId xmlns:a16="http://schemas.microsoft.com/office/drawing/2014/main" id="{276C6535-B414-41B7-BCE8-09D7BA630C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94B2F-C03C-4968-989C-E396795DCD6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05EEE3-4571-458E-9D5E-1CEE7726103B}"/>
              </a:ext>
            </a:extLst>
          </p:cNvPr>
          <p:cNvSpPr>
            <a:spLocks noGrp="1"/>
          </p:cNvSpPr>
          <p:nvPr>
            <p:ph type="dt" sz="half" idx="10"/>
          </p:nvPr>
        </p:nvSpPr>
        <p:spPr/>
        <p:txBody>
          <a:body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843979DB-DD0A-4DFB-BE7C-229B0C8844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80558A-6746-40BD-83DA-3E6EC4D9F011}"/>
              </a:ext>
            </a:extLst>
          </p:cNvPr>
          <p:cNvSpPr>
            <a:spLocks noGrp="1"/>
          </p:cNvSpPr>
          <p:nvPr>
            <p:ph type="sldNum" sz="quarter" idx="12"/>
          </p:nvPr>
        </p:nvSpPr>
        <p:spPr/>
        <p:txBody>
          <a:bodyPr/>
          <a:lstStyle/>
          <a:p>
            <a:fld id="{7B8171C6-531C-46E6-9A00-7137361EF986}" type="slidenum">
              <a:rPr lang="en-US" smtClean="0"/>
              <a:t>‹#›</a:t>
            </a:fld>
            <a:endParaRPr lang="en-US"/>
          </a:p>
        </p:txBody>
      </p:sp>
    </p:spTree>
    <p:extLst>
      <p:ext uri="{BB962C8B-B14F-4D97-AF65-F5344CB8AC3E}">
        <p14:creationId xmlns:p14="http://schemas.microsoft.com/office/powerpoint/2010/main" val="407419629"/>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a:extLst>
              <a:ext uri="{FF2B5EF4-FFF2-40B4-BE49-F238E27FC236}">
                <a16:creationId xmlns:a16="http://schemas.microsoft.com/office/drawing/2014/main" id="{AA37B478-6A67-4E50-AE02-419939DE1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988555-7FB2-46B0-97E2-DEA5B5FE5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15DDE-7715-44C0-BFCB-53C621DEA4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D23C56-9B1A-44C4-BBE5-F7E7A1639D7A}" type="datetimeFigureOut">
              <a:rPr lang="en-US" smtClean="0"/>
              <a:t>5/21/2018</a:t>
            </a:fld>
            <a:endParaRPr lang="en-US"/>
          </a:p>
        </p:txBody>
      </p:sp>
      <p:sp>
        <p:nvSpPr>
          <p:cNvPr id="5" name="Footer Placeholder 4">
            <a:extLst>
              <a:ext uri="{FF2B5EF4-FFF2-40B4-BE49-F238E27FC236}">
                <a16:creationId xmlns:a16="http://schemas.microsoft.com/office/drawing/2014/main" id="{79819FDB-AE88-43CB-82D3-9B3DC31330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9947FC0-0503-4608-8411-54F3F1FC41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171C6-531C-46E6-9A00-7137361EF986}" type="slidenum">
              <a:rPr lang="en-US" smtClean="0"/>
              <a:t>‹#›</a:t>
            </a:fld>
            <a:endParaRPr lang="en-US"/>
          </a:p>
        </p:txBody>
      </p:sp>
    </p:spTree>
    <p:extLst>
      <p:ext uri="{BB962C8B-B14F-4D97-AF65-F5344CB8AC3E}">
        <p14:creationId xmlns:p14="http://schemas.microsoft.com/office/powerpoint/2010/main" val="3397114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png" /><Relationship Id="rId4" Type="http://schemas.openxmlformats.org/officeDocument/2006/relationships/image" Target="../media/image2.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png" /><Relationship Id="rId4" Type="http://schemas.openxmlformats.org/officeDocument/2006/relationships/image" Target="../media/image3.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png" /><Relationship Id="rId4" Type="http://schemas.openxmlformats.org/officeDocument/2006/relationships/image" Target="../media/image4.emf"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png" /><Relationship Id="rId4" Type="http://schemas.openxmlformats.org/officeDocument/2006/relationships/image" Target="../media/image5.emf"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png" /><Relationship Id="rId4" Type="http://schemas.openxmlformats.org/officeDocument/2006/relationships/image" Target="../media/image6.emf"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png" /><Relationship Id="rId4" Type="http://schemas.openxmlformats.org/officeDocument/2006/relationships/image" Target="../media/image7.e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png" /><Relationship Id="rId4" Type="http://schemas.openxmlformats.org/officeDocument/2006/relationships/image" Target="../media/image8.emf"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png" /><Relationship Id="rId4" Type="http://schemas.openxmlformats.org/officeDocument/2006/relationships/image" Target="../media/image9.emf"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png" /><Relationship Id="rId4" Type="http://schemas.openxmlformats.org/officeDocument/2006/relationships/image" Target="../media/image10.emf"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png" /><Relationship Id="rId4" Type="http://schemas.openxmlformats.org/officeDocument/2006/relationships/image" Target="../media/image11.emf"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png" /><Relationship Id="rId4" Type="http://schemas.openxmlformats.org/officeDocument/2006/relationships/image" Target="../media/image12.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png" /><Relationship Id="rId4" Type="http://schemas.openxmlformats.org/officeDocument/2006/relationships/image" Target="../media/image13.emf"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png" /><Relationship Id="rId4" Type="http://schemas.openxmlformats.org/officeDocument/2006/relationships/image" Target="../media/image14.emf"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png" /><Relationship Id="rId4" Type="http://schemas.openxmlformats.org/officeDocument/2006/relationships/image" Target="../media/image15.emf"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png" /><Relationship Id="rId4" Type="http://schemas.openxmlformats.org/officeDocument/2006/relationships/image" Target="../media/image16.emf"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png" /><Relationship Id="rId4" Type="http://schemas.openxmlformats.org/officeDocument/2006/relationships/image" Target="../media/image17.emf"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png" /><Relationship Id="rId4" Type="http://schemas.openxmlformats.org/officeDocument/2006/relationships/image" Target="../media/image18.emf"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png" /><Relationship Id="rId4" Type="http://schemas.openxmlformats.org/officeDocument/2006/relationships/image" Target="../media/image19.emf"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png" /><Relationship Id="rId4" Type="http://schemas.openxmlformats.org/officeDocument/2006/relationships/image" Target="../media/image20.emf"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png" /><Relationship Id="rId4" Type="http://schemas.openxmlformats.org/officeDocument/2006/relationships/image" Target="../media/image21.emf"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png" /><Relationship Id="rId4" Type="http://schemas.openxmlformats.org/officeDocument/2006/relationships/image" Target="../media/image22.emf"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122" name="Shape 122"/>
          <p:cNvSpPr/>
          <p:nvPr/>
        </p:nvSpPr>
        <p:spPr>
          <a:xfrm>
            <a:off x="7463831" y="4836636"/>
            <a:ext cx="51296" cy="689932"/>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a:defRPr sz="8300">
                <a:solidFill>
                  <a:srgbClr val="FFFFFF"/>
                </a:solidFill>
                <a:latin typeface="Futura"/>
                <a:ea typeface="Futura"/>
                <a:cs typeface="Futura"/>
                <a:sym typeface="Futura"/>
              </a:defRPr>
            </a:lvl1pPr>
          </a:lstStyle>
          <a:p>
            <a:endParaRPr lang="en-US" sz="4150">
              <a:latin typeface="Century Gothic" charset="0"/>
              <a:ea typeface="Century Gothic" charset="0"/>
              <a:cs typeface="Century Gothic" charset="0"/>
            </a:endParaRPr>
          </a:p>
        </p:txBody>
      </p:sp>
      <p:sp>
        <p:nvSpPr>
          <p:cNvPr id="4" name="TextBox 3"/>
          <p:cNvSpPr txBox="1"/>
          <p:nvPr/>
        </p:nvSpPr>
        <p:spPr>
          <a:xfrm>
            <a:off x="209176" y="298824"/>
            <a:ext cx="11684000" cy="3570208"/>
          </a:xfrm>
          <a:prstGeom prst="rect">
            <a:avLst/>
          </a:prstGeom>
          <a:noFill/>
        </p:spPr>
        <p:txBody>
          <a:bodyPr wrap="square" rtlCol="0">
            <a:spAutoFit/>
          </a:bodyPr>
          <a:lstStyle/>
          <a:p>
            <a:r>
              <a:rPr lang="en-US" sz="5400">
                <a:latin typeface="Century Gothic" charset="0"/>
                <a:cs typeface="Century Gothic" charset="0"/>
              </a:rPr>
              <a:t>Oilseed Grains Outlook:</a:t>
            </a:r>
          </a:p>
          <a:p>
            <a:r>
              <a:rPr lang="en-US" sz="5400">
                <a:latin typeface="Century Gothic" charset="0"/>
                <a:cs typeface="Century Gothic" charset="0"/>
              </a:rPr>
              <a:t>The Impact of Argentine Crop Losses on Oilseed Markets</a:t>
            </a:r>
          </a:p>
          <a:p>
            <a:endParaRPr lang="en-US" sz="3200">
              <a:latin typeface="Century Gothic" charset="0"/>
              <a:cs typeface="Century Gothic" charset="0"/>
            </a:endParaRPr>
          </a:p>
          <a:p>
            <a:r>
              <a:rPr lang="en-US" sz="3200">
                <a:latin typeface="Century Gothic" charset="0"/>
                <a:cs typeface="Century Gothic" charset="0"/>
              </a:rPr>
              <a:t>May 23, 2018</a:t>
            </a:r>
          </a:p>
        </p:txBody>
      </p:sp>
      <p:sp>
        <p:nvSpPr>
          <p:cNvPr id="9" name="Shape 119"/>
          <p:cNvSpPr/>
          <p:nvPr/>
        </p:nvSpPr>
        <p:spPr>
          <a:xfrm>
            <a:off x="1" y="4665307"/>
            <a:ext cx="12192000" cy="2192695"/>
          </a:xfrm>
          <a:prstGeom prst="rect">
            <a:avLst/>
          </a:prstGeom>
          <a:solidFill>
            <a:srgbClr val="243A48"/>
          </a:solidFill>
          <a:ln w="12700">
            <a:miter lim="400000"/>
          </a:ln>
        </p:spPr>
        <p:txBody>
          <a:bodyPr lIns="25400" tIns="25400" rIns="25400" bIns="25400" anchor="ctr"/>
          <a:lstStyle/>
          <a:p>
            <a:pPr>
              <a:defRPr sz="3200">
                <a:solidFill>
                  <a:srgbClr val="FFFFFF"/>
                </a:solidFill>
              </a:defRPr>
            </a:pPr>
            <a:endParaRPr sz="1600">
              <a:solidFill>
                <a:srgbClr val="F3E437"/>
              </a:solidFill>
            </a:endParaRPr>
          </a:p>
        </p:txBody>
      </p:sp>
      <p:pic>
        <p:nvPicPr>
          <p:cNvPr id="120" name="pasted-image.png"/>
          <p:cNvPicPr>
            <a:picLocks noChangeAspect="1"/>
          </p:cNvPicPr>
          <p:nvPr/>
        </p:nvPicPr>
        <p:blipFill>
          <a:blip r:embed="rId2">
            <a:extLst/>
          </a:blip>
          <a:stretch>
            <a:fillRect/>
          </a:stretch>
        </p:blipFill>
        <p:spPr>
          <a:xfrm>
            <a:off x="9239081" y="3614831"/>
            <a:ext cx="2527301" cy="736601"/>
          </a:xfrm>
          <a:prstGeom prst="rect">
            <a:avLst/>
          </a:prstGeom>
          <a:ln w="12700">
            <a:miter lim="400000"/>
          </a:ln>
        </p:spPr>
      </p:pic>
    </p:spTree>
    <p:extLst>
      <p:ext uri="{BB962C8B-B14F-4D97-AF65-F5344CB8AC3E}">
        <p14:creationId xmlns:p14="http://schemas.microsoft.com/office/powerpoint/2010/main" val="2123852027"/>
      </p:ext>
    </p:extLst>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50589"/>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19938" y="2423610"/>
            <a:ext cx="10244858" cy="35458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endParaRPr lang="en-US" sz="215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3" name="TextBox 2"/>
          <p:cNvSpPr txBox="1"/>
          <p:nvPr/>
        </p:nvSpPr>
        <p:spPr>
          <a:xfrm>
            <a:off x="1210235" y="345847"/>
            <a:ext cx="10608236" cy="5724644"/>
          </a:xfrm>
          <a:prstGeom prst="rect">
            <a:avLst/>
          </a:prstGeom>
          <a:noFill/>
        </p:spPr>
        <p:txBody>
          <a:bodyPr wrap="square" rtlCol="0">
            <a:spAutoFit/>
          </a:bodyPr>
          <a:lstStyle/>
          <a:p>
            <a:endParaRPr lang="en-US">
              <a:latin typeface="Century Gothic" charset="0"/>
              <a:cs typeface="Century Gothic" charset="0"/>
            </a:endParaRPr>
          </a:p>
          <a:p>
            <a:pPr marL="174625" indent="-174625"/>
            <a:r>
              <a:rPr lang="en-US">
                <a:latin typeface="Century Gothic" charset="0"/>
                <a:cs typeface="Century Gothic" charset="0"/>
              </a:rPr>
              <a:t>  </a:t>
            </a:r>
            <a:r>
              <a:rPr lang="en-US" sz="2400">
                <a:latin typeface="Century Gothic" charset="0"/>
                <a:cs typeface="Century Gothic" charset="0"/>
              </a:rPr>
              <a:t>Argentina experienced an historic drought that reduced soybean production significantly this year.</a:t>
            </a:r>
          </a:p>
          <a:p>
            <a:pPr marL="174625" indent="-174625"/>
            <a:endParaRPr lang="en-US" sz="2400">
              <a:latin typeface="Century Gothic" charset="0"/>
              <a:cs typeface="Century Gothic" charset="0"/>
            </a:endParaRPr>
          </a:p>
          <a:p>
            <a:pPr marL="174625" indent="-174625"/>
            <a:r>
              <a:rPr lang="en-US" sz="2400">
                <a:latin typeface="Century Gothic" charset="0"/>
                <a:cs typeface="Century Gothic" charset="0"/>
              </a:rPr>
              <a:t>  The impact of the drought may be mitigated by the drawdown of ending stocks, but Argentine farmers have been tight holders in recent years.  </a:t>
            </a:r>
          </a:p>
          <a:p>
            <a:pPr marL="174625" indent="-174625"/>
            <a:r>
              <a:rPr lang="en-US" sz="2400">
                <a:latin typeface="Century Gothic" charset="0"/>
                <a:cs typeface="Century Gothic" charset="0"/>
              </a:rPr>
              <a:t>  </a:t>
            </a:r>
          </a:p>
          <a:p>
            <a:pPr marL="174625" indent="-174625"/>
            <a:r>
              <a:rPr lang="en-US" sz="2400">
                <a:latin typeface="Century Gothic" charset="0"/>
                <a:cs typeface="Century Gothic" charset="0"/>
              </a:rPr>
              <a:t>  The main beneficiary to the losses in Argentina is expected to be Brazil.</a:t>
            </a:r>
          </a:p>
          <a:p>
            <a:pPr marL="174625" indent="-174625"/>
            <a:endParaRPr lang="en-US" sz="2400">
              <a:latin typeface="Century Gothic" charset="0"/>
              <a:cs typeface="Century Gothic" charset="0"/>
            </a:endParaRPr>
          </a:p>
          <a:p>
            <a:pPr marL="174625" indent="-174625"/>
            <a:r>
              <a:rPr lang="en-US" sz="2400">
                <a:latin typeface="Century Gothic" charset="0"/>
                <a:cs typeface="Century Gothic" charset="0"/>
              </a:rPr>
              <a:t>  The main benefit to the US may be an increase in soybean exports to China and stronger soybean meal exports than expected earlier this year. </a:t>
            </a:r>
            <a:r>
              <a:rPr lang="en-US">
                <a:latin typeface="Century Gothic" charset="0"/>
                <a:cs typeface="Century Gothic" charset="0"/>
              </a:rPr>
              <a:t> </a:t>
            </a:r>
          </a:p>
          <a:p>
            <a:endParaRPr lang="en-US">
              <a:latin typeface="Century Gothic" charset="0"/>
              <a:cs typeface="Century Gothic" charset="0"/>
            </a:endParaRPr>
          </a:p>
          <a:p>
            <a:endParaRPr lang="en-US">
              <a:latin typeface="Century Gothic" charset="0"/>
              <a:cs typeface="Century Gothic" charset="0"/>
            </a:endParaRPr>
          </a:p>
        </p:txBody>
      </p:sp>
    </p:spTree>
    <p:extLst>
      <p:ext uri="{BB962C8B-B14F-4D97-AF65-F5344CB8AC3E}">
        <p14:creationId xmlns:p14="http://schemas.microsoft.com/office/powerpoint/2010/main" val="3488453189"/>
      </p:ext>
    </p:extLst>
  </p:cSld>
  <p:clrMapOvr>
    <a:masterClrMapping/>
  </p:clrMapOvr>
  <p:transition/>
  <p:timing/>
</p:sld>
</file>

<file path=ppt/slides/slide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91361" y="345846"/>
            <a:ext cx="4645104" cy="490262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Argentina suffered an historic drought during its 2018/19 growing season.</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The resulting damage to the soybean crop resulted in significant decreases in production estimates throughout the year. </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Ultimately, Argentine production dropped below 40 million tonnes, which is the lowest level since 2009.</a:t>
            </a:r>
          </a:p>
          <a:p>
            <a:pPr marL="457200"/>
            <a:endParaRPr lang="en-US" sz="215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C4947306-6111-4AEA-B696-0CE1D6B39889}"/>
              </a:ext>
            </a:extLst>
          </p:cNvPr>
          <p:cNvPicPr>
            <a:picLocks noChangeAspect="1"/>
          </p:cNvPicPr>
          <p:nvPr/>
        </p:nvPicPr>
        <p:blipFill>
          <a:blip r:embed="rId4"/>
          <a:stretch>
            <a:fillRect/>
          </a:stretch>
        </p:blipFill>
        <p:spPr>
          <a:xfrm>
            <a:off x="5336465" y="345847"/>
            <a:ext cx="6705172" cy="4870460"/>
          </a:xfrm>
          <a:prstGeom prst="rect">
            <a:avLst/>
          </a:prstGeom>
        </p:spPr>
      </p:pic>
    </p:spTree>
    <p:extLst>
      <p:ext uri="{BB962C8B-B14F-4D97-AF65-F5344CB8AC3E}">
        <p14:creationId xmlns:p14="http://schemas.microsoft.com/office/powerpoint/2010/main" val="1564125207"/>
      </p:ext>
    </p:extLst>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91362" y="342132"/>
            <a:ext cx="4518792" cy="407624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2150">
                <a:latin typeface="Century Gothic" charset="0"/>
                <a:ea typeface="Century Gothic" charset="0"/>
                <a:cs typeface="Century Gothic" charset="0"/>
              </a:rPr>
              <a:t>Argentina is the largest exporter of soybean meal and soybean oil in the world as a result of its export tax structure, which benefits value added products.</a:t>
            </a:r>
          </a:p>
          <a:p>
            <a:pPr marL="457200"/>
            <a:endParaRPr lang="en-US" sz="2150">
              <a:latin typeface="Century Gothic" charset="0"/>
              <a:ea typeface="Century Gothic" charset="0"/>
              <a:cs typeface="Century Gothic" charset="0"/>
            </a:endParaRPr>
          </a:p>
          <a:p>
            <a:pPr marL="457200"/>
            <a:r>
              <a:rPr lang="en-US" sz="2150">
                <a:latin typeface="Century Gothic" charset="0"/>
                <a:ea typeface="Century Gothic" charset="0"/>
                <a:cs typeface="Century Gothic" charset="0"/>
              </a:rPr>
              <a:t>Argentina has also held more than 40 percent of the world’s soybean stocks in recent years as farmers stored soybeans as a hedge against inflation.</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5" name="Picture 4">
            <a:extLst>
              <a:ext uri="{FF2B5EF4-FFF2-40B4-BE49-F238E27FC236}">
                <a16:creationId xmlns:a16="http://schemas.microsoft.com/office/drawing/2014/main" id="{CA675FEB-4657-45B0-BA8B-E9070CE1A762}"/>
              </a:ext>
            </a:extLst>
          </p:cNvPr>
          <p:cNvPicPr>
            <a:picLocks noChangeAspect="1"/>
          </p:cNvPicPr>
          <p:nvPr/>
        </p:nvPicPr>
        <p:blipFill>
          <a:blip r:embed="rId4"/>
          <a:stretch>
            <a:fillRect/>
          </a:stretch>
        </p:blipFill>
        <p:spPr>
          <a:xfrm>
            <a:off x="5335504" y="345846"/>
            <a:ext cx="6706133" cy="4870459"/>
          </a:xfrm>
          <a:prstGeom prst="rect">
            <a:avLst/>
          </a:prstGeom>
        </p:spPr>
      </p:pic>
    </p:spTree>
    <p:extLst>
      <p:ext uri="{BB962C8B-B14F-4D97-AF65-F5344CB8AC3E}">
        <p14:creationId xmlns:p14="http://schemas.microsoft.com/office/powerpoint/2010/main" val="1599349534"/>
      </p:ext>
    </p:extLst>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05650" y="342133"/>
            <a:ext cx="4518792" cy="4098558"/>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800">
                <a:latin typeface="Century Gothic" charset="0"/>
                <a:ea typeface="Century Gothic" charset="0"/>
                <a:cs typeface="Century Gothic" charset="0"/>
              </a:rPr>
              <a:t>The question of whether Argentine farmers will liquidate soybean stocks to make up for the shortfall in production will be the key in understanding the impact of the drought on world markets.</a:t>
            </a:r>
          </a:p>
          <a:p>
            <a:pPr marL="457200"/>
            <a:endParaRPr lang="en-US" sz="1800">
              <a:latin typeface="Century Gothic" charset="0"/>
              <a:ea typeface="Century Gothic" charset="0"/>
              <a:cs typeface="Century Gothic" charset="0"/>
            </a:endParaRPr>
          </a:p>
          <a:p>
            <a:pPr marL="457200"/>
            <a:r>
              <a:rPr lang="en-US" sz="1800">
                <a:latin typeface="Century Gothic" charset="0"/>
                <a:ea typeface="Century Gothic" charset="0"/>
                <a:cs typeface="Century Gothic" charset="0"/>
              </a:rPr>
              <a:t>USDA estimates stocks will decline to just over 12 million tonnes after peaking at almost 20 million last year. </a:t>
            </a:r>
          </a:p>
          <a:p>
            <a:pPr marL="457200"/>
            <a:endParaRPr lang="en-US" sz="1800">
              <a:latin typeface="Century Gothic" charset="0"/>
              <a:ea typeface="Century Gothic" charset="0"/>
              <a:cs typeface="Century Gothic" charset="0"/>
            </a:endParaRPr>
          </a:p>
          <a:p>
            <a:pPr marL="457200"/>
            <a:r>
              <a:rPr lang="en-US" sz="1800">
                <a:latin typeface="Century Gothic" charset="0"/>
                <a:ea typeface="Century Gothic" charset="0"/>
                <a:cs typeface="Century Gothic" charset="0"/>
              </a:rPr>
              <a:t>The Jacobsen also believes stocks will decline, but do not think the decline will be as dramatic.</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A2DE4C41-CD9B-49A2-A45B-2659E3ED9BD6}"/>
              </a:ext>
            </a:extLst>
          </p:cNvPr>
          <p:cNvPicPr>
            <a:picLocks noChangeAspect="1"/>
          </p:cNvPicPr>
          <p:nvPr/>
        </p:nvPicPr>
        <p:blipFill>
          <a:blip r:embed="rId4"/>
          <a:stretch>
            <a:fillRect/>
          </a:stretch>
        </p:blipFill>
        <p:spPr>
          <a:xfrm>
            <a:off x="5330390" y="342132"/>
            <a:ext cx="6711247" cy="4874173"/>
          </a:xfrm>
          <a:prstGeom prst="rect">
            <a:avLst/>
          </a:prstGeom>
        </p:spPr>
      </p:pic>
    </p:spTree>
    <p:extLst>
      <p:ext uri="{BB962C8B-B14F-4D97-AF65-F5344CB8AC3E}">
        <p14:creationId xmlns:p14="http://schemas.microsoft.com/office/powerpoint/2010/main" val="3727495254"/>
      </p:ext>
    </p:extLst>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66840BE1-4495-42EA-8C7D-6B29D7FF70A6}"/>
              </a:ext>
            </a:extLst>
          </p:cNvPr>
          <p:cNvPicPr>
            <a:picLocks noChangeAspect="1"/>
          </p:cNvPicPr>
          <p:nvPr/>
        </p:nvPicPr>
        <p:blipFill>
          <a:blip r:embed="rId4"/>
          <a:stretch>
            <a:fillRect/>
          </a:stretch>
        </p:blipFill>
        <p:spPr>
          <a:xfrm>
            <a:off x="1398628" y="519631"/>
            <a:ext cx="9953047" cy="4566384"/>
          </a:xfrm>
          <a:prstGeom prst="rect">
            <a:avLst/>
          </a:prstGeom>
        </p:spPr>
      </p:pic>
    </p:spTree>
    <p:extLst>
      <p:ext uri="{BB962C8B-B14F-4D97-AF65-F5344CB8AC3E}">
        <p14:creationId xmlns:p14="http://schemas.microsoft.com/office/powerpoint/2010/main" val="2664951554"/>
      </p:ext>
    </p:extLst>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05650" y="347380"/>
            <a:ext cx="4518792" cy="4126258"/>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700">
                <a:latin typeface="Century Gothic" charset="0"/>
                <a:ea typeface="Century Gothic" charset="0"/>
                <a:cs typeface="Century Gothic" charset="0"/>
              </a:rPr>
              <a:t>After the impact to stocks, the impact to the soybean crush is the second largest fundamental impact of the drought.</a:t>
            </a:r>
          </a:p>
          <a:p>
            <a:pPr marL="457200"/>
            <a:endParaRPr lang="en-US" sz="1700">
              <a:latin typeface="Century Gothic" charset="0"/>
              <a:ea typeface="Century Gothic" charset="0"/>
              <a:cs typeface="Century Gothic" charset="0"/>
            </a:endParaRPr>
          </a:p>
          <a:p>
            <a:pPr marL="457200"/>
            <a:r>
              <a:rPr lang="en-US" sz="1700">
                <a:latin typeface="Century Gothic" charset="0"/>
                <a:ea typeface="Century Gothic" charset="0"/>
                <a:cs typeface="Century Gothic" charset="0"/>
              </a:rPr>
              <a:t>USDA increases the crush slightly, but uses the small increase in production to increase domestic feed usage while decreasing exports.</a:t>
            </a:r>
          </a:p>
          <a:p>
            <a:pPr marL="457200"/>
            <a:endParaRPr lang="en-US" sz="1700">
              <a:latin typeface="Century Gothic" charset="0"/>
              <a:ea typeface="Century Gothic" charset="0"/>
              <a:cs typeface="Century Gothic" charset="0"/>
            </a:endParaRPr>
          </a:p>
          <a:p>
            <a:pPr marL="457200"/>
            <a:r>
              <a:rPr lang="en-US" sz="1700">
                <a:latin typeface="Century Gothic" charset="0"/>
                <a:ea typeface="Century Gothic" charset="0"/>
                <a:cs typeface="Century Gothic" charset="0"/>
              </a:rPr>
              <a:t>The Jacobsen reduces crush by more than two million tonnes, resulting in an almost one-million-tonne reduction in meal production, similar reduction in exports and a slightly decline in domestic usage.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946F0308-EA09-4750-8C6E-6A0BF2590D1E}"/>
              </a:ext>
            </a:extLst>
          </p:cNvPr>
          <p:cNvPicPr>
            <a:picLocks noChangeAspect="1"/>
          </p:cNvPicPr>
          <p:nvPr/>
        </p:nvPicPr>
        <p:blipFill>
          <a:blip r:embed="rId4"/>
          <a:stretch>
            <a:fillRect/>
          </a:stretch>
        </p:blipFill>
        <p:spPr>
          <a:xfrm>
            <a:off x="5340432" y="345847"/>
            <a:ext cx="6701205" cy="4866880"/>
          </a:xfrm>
          <a:prstGeom prst="rect">
            <a:avLst/>
          </a:prstGeom>
        </p:spPr>
      </p:pic>
    </p:spTree>
    <p:extLst>
      <p:ext uri="{BB962C8B-B14F-4D97-AF65-F5344CB8AC3E}">
        <p14:creationId xmlns:p14="http://schemas.microsoft.com/office/powerpoint/2010/main" val="4160112231"/>
      </p:ext>
    </p:extLst>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20461674-EAAD-4FDB-9800-8E9A298D0B16}"/>
              </a:ext>
            </a:extLst>
          </p:cNvPr>
          <p:cNvPicPr>
            <a:picLocks noChangeAspect="1"/>
          </p:cNvPicPr>
          <p:nvPr/>
        </p:nvPicPr>
        <p:blipFill>
          <a:blip r:embed="rId4"/>
          <a:stretch>
            <a:fillRect/>
          </a:stretch>
        </p:blipFill>
        <p:spPr>
          <a:xfrm>
            <a:off x="1158512" y="685283"/>
            <a:ext cx="10756596" cy="3341891"/>
          </a:xfrm>
          <a:prstGeom prst="rect">
            <a:avLst/>
          </a:prstGeom>
        </p:spPr>
      </p:pic>
    </p:spTree>
    <p:extLst>
      <p:ext uri="{BB962C8B-B14F-4D97-AF65-F5344CB8AC3E}">
        <p14:creationId xmlns:p14="http://schemas.microsoft.com/office/powerpoint/2010/main" val="4125640809"/>
      </p:ext>
    </p:extLst>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705650" y="345846"/>
            <a:ext cx="4518792" cy="4361707"/>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700">
                <a:latin typeface="Century Gothic" charset="0"/>
                <a:ea typeface="Century Gothic" charset="0"/>
                <a:cs typeface="Century Gothic" charset="0"/>
              </a:rPr>
              <a:t>The impact of the drought on the soybean oil balance sheet is smaller than on soybean or meal balance sheets.</a:t>
            </a:r>
          </a:p>
          <a:p>
            <a:pPr marL="457200"/>
            <a:endParaRPr lang="en-US" sz="1700">
              <a:latin typeface="Century Gothic" charset="0"/>
              <a:ea typeface="Century Gothic" charset="0"/>
              <a:cs typeface="Century Gothic" charset="0"/>
            </a:endParaRPr>
          </a:p>
          <a:p>
            <a:pPr marL="457200"/>
            <a:r>
              <a:rPr lang="en-US" sz="1700">
                <a:latin typeface="Century Gothic" charset="0"/>
                <a:ea typeface="Century Gothic" charset="0"/>
                <a:cs typeface="Century Gothic" charset="0"/>
              </a:rPr>
              <a:t>USDA reduces production by just 30,000 tonnes, which results in minor reductions in exports, biodiesel production and stocks, which offset a small increase in food usage. </a:t>
            </a:r>
          </a:p>
          <a:p>
            <a:pPr marL="457200"/>
            <a:endParaRPr lang="en-US" sz="1700">
              <a:latin typeface="Century Gothic" charset="0"/>
              <a:ea typeface="Century Gothic" charset="0"/>
              <a:cs typeface="Century Gothic" charset="0"/>
            </a:endParaRPr>
          </a:p>
          <a:p>
            <a:pPr marL="457200"/>
            <a:r>
              <a:rPr lang="en-US" sz="1700">
                <a:latin typeface="Century Gothic" charset="0"/>
                <a:ea typeface="Century Gothic" charset="0"/>
                <a:cs typeface="Century Gothic" charset="0"/>
              </a:rPr>
              <a:t>The Jacobsen reduces production by a little less than 500,000 tonnes, which is offset by reductions in exports, biodiesel production, stocks and a small reduction in non-biodiesel usage.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BC00253A-97E1-4CF5-869D-180C1A8844C1}"/>
              </a:ext>
            </a:extLst>
          </p:cNvPr>
          <p:cNvPicPr>
            <a:picLocks noChangeAspect="1"/>
          </p:cNvPicPr>
          <p:nvPr/>
        </p:nvPicPr>
        <p:blipFill>
          <a:blip r:embed="rId4"/>
          <a:stretch>
            <a:fillRect/>
          </a:stretch>
        </p:blipFill>
        <p:spPr>
          <a:xfrm>
            <a:off x="5333948" y="345846"/>
            <a:ext cx="6707689" cy="4871589"/>
          </a:xfrm>
          <a:prstGeom prst="rect">
            <a:avLst/>
          </a:prstGeom>
        </p:spPr>
      </p:pic>
    </p:spTree>
    <p:extLst>
      <p:ext uri="{BB962C8B-B14F-4D97-AF65-F5344CB8AC3E}">
        <p14:creationId xmlns:p14="http://schemas.microsoft.com/office/powerpoint/2010/main" val="3487757061"/>
      </p:ext>
    </p:extLst>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ARGENTINA</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5446843E-F0DE-44FC-B5CB-5B4AEB1ECF10}"/>
              </a:ext>
            </a:extLst>
          </p:cNvPr>
          <p:cNvPicPr>
            <a:picLocks noChangeAspect="1"/>
          </p:cNvPicPr>
          <p:nvPr/>
        </p:nvPicPr>
        <p:blipFill>
          <a:blip r:embed="rId4"/>
          <a:stretch>
            <a:fillRect/>
          </a:stretch>
        </p:blipFill>
        <p:spPr>
          <a:xfrm>
            <a:off x="1290050" y="728821"/>
            <a:ext cx="10493519" cy="3505023"/>
          </a:xfrm>
          <a:prstGeom prst="rect">
            <a:avLst/>
          </a:prstGeom>
        </p:spPr>
      </p:pic>
    </p:spTree>
    <p:extLst>
      <p:ext uri="{BB962C8B-B14F-4D97-AF65-F5344CB8AC3E}">
        <p14:creationId xmlns:p14="http://schemas.microsoft.com/office/powerpoint/2010/main" val="594128787"/>
      </p:ext>
    </p:extLst>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25486" y="341233"/>
            <a:ext cx="4518792" cy="4197046"/>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400">
                <a:latin typeface="Century Gothic" charset="0"/>
                <a:ea typeface="Century Gothic" charset="0"/>
                <a:cs typeface="Century Gothic" charset="0"/>
              </a:rPr>
              <a:t>The biggest beneficiary of the relatively limited changes in the Argentine balance sheets is Brazil.</a:t>
            </a:r>
          </a:p>
          <a:p>
            <a:pPr marL="457200"/>
            <a:endParaRPr lang="en-US" sz="1400">
              <a:latin typeface="Century Gothic" charset="0"/>
              <a:ea typeface="Century Gothic" charset="0"/>
              <a:cs typeface="Century Gothic" charset="0"/>
            </a:endParaRPr>
          </a:p>
          <a:p>
            <a:pPr marL="457200"/>
            <a:r>
              <a:rPr lang="en-US" sz="1400">
                <a:latin typeface="Century Gothic" charset="0"/>
                <a:ea typeface="Century Gothic" charset="0"/>
                <a:cs typeface="Century Gothic" charset="0"/>
              </a:rPr>
              <a:t>Brazil produced its second straight record soybean crop last year with production up almost 80 percent over the last five years. </a:t>
            </a:r>
          </a:p>
          <a:p>
            <a:pPr marL="457200"/>
            <a:endParaRPr lang="en-US" sz="1400">
              <a:latin typeface="Century Gothic" charset="0"/>
              <a:ea typeface="Century Gothic" charset="0"/>
              <a:cs typeface="Century Gothic" charset="0"/>
            </a:endParaRPr>
          </a:p>
          <a:p>
            <a:pPr marL="457200"/>
            <a:r>
              <a:rPr lang="en-US" sz="1400">
                <a:latin typeface="Century Gothic" charset="0"/>
                <a:ea typeface="Century Gothic" charset="0"/>
                <a:cs typeface="Century Gothic" charset="0"/>
              </a:rPr>
              <a:t>The increase in output has been the result of beneficial weather during the growing season, which is reflected, partially, in a 30-percent increase in yield and a 40-percent increase in harvested area.</a:t>
            </a:r>
          </a:p>
          <a:p>
            <a:pPr marL="457200"/>
            <a:endParaRPr lang="en-US" sz="1400">
              <a:latin typeface="Century Gothic" charset="0"/>
              <a:ea typeface="Century Gothic" charset="0"/>
              <a:cs typeface="Century Gothic" charset="0"/>
            </a:endParaRPr>
          </a:p>
          <a:p>
            <a:pPr marL="457200"/>
            <a:r>
              <a:rPr lang="en-US" sz="1400">
                <a:latin typeface="Century Gothic" charset="0"/>
                <a:ea typeface="Century Gothic" charset="0"/>
                <a:cs typeface="Century Gothic" charset="0"/>
              </a:rPr>
              <a:t>USDA reduces Brazil’s crush slightly from last year’s estimate, while the Jacobsen raises its forecast from a lower level. Combined, the two projections process roughly the same amount of soybeans over the two years.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F318883F-71B4-4F41-996D-B49753DE766B}"/>
              </a:ext>
            </a:extLst>
          </p:cNvPr>
          <p:cNvPicPr>
            <a:picLocks noChangeAspect="1"/>
          </p:cNvPicPr>
          <p:nvPr/>
        </p:nvPicPr>
        <p:blipFill>
          <a:blip r:embed="rId4"/>
          <a:stretch>
            <a:fillRect/>
          </a:stretch>
        </p:blipFill>
        <p:spPr>
          <a:xfrm>
            <a:off x="5326851" y="341232"/>
            <a:ext cx="6712486" cy="4875073"/>
          </a:xfrm>
          <a:prstGeom prst="rect">
            <a:avLst/>
          </a:prstGeom>
        </p:spPr>
      </p:pic>
    </p:spTree>
    <p:extLst>
      <p:ext uri="{BB962C8B-B14F-4D97-AF65-F5344CB8AC3E}">
        <p14:creationId xmlns:p14="http://schemas.microsoft.com/office/powerpoint/2010/main" val="2563828862"/>
      </p:ext>
    </p:extLst>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E9B1F66A-B320-4371-9176-EFCE5D5BA0D6}"/>
              </a:ext>
            </a:extLst>
          </p:cNvPr>
          <p:cNvPicPr>
            <a:picLocks noChangeAspect="1"/>
          </p:cNvPicPr>
          <p:nvPr/>
        </p:nvPicPr>
        <p:blipFill>
          <a:blip r:embed="rId4"/>
          <a:stretch>
            <a:fillRect/>
          </a:stretch>
        </p:blipFill>
        <p:spPr>
          <a:xfrm>
            <a:off x="1504146" y="517298"/>
            <a:ext cx="10247724" cy="4235176"/>
          </a:xfrm>
          <a:prstGeom prst="rect">
            <a:avLst/>
          </a:prstGeom>
        </p:spPr>
      </p:pic>
    </p:spTree>
    <p:extLst>
      <p:ext uri="{BB962C8B-B14F-4D97-AF65-F5344CB8AC3E}">
        <p14:creationId xmlns:p14="http://schemas.microsoft.com/office/powerpoint/2010/main" val="3074395557"/>
      </p:ext>
    </p:extLst>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08923" y="344308"/>
            <a:ext cx="4518792" cy="4514056"/>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500">
                <a:latin typeface="Century Gothic" charset="0"/>
                <a:ea typeface="Century Gothic" charset="0"/>
                <a:cs typeface="Century Gothic" charset="0"/>
              </a:rPr>
              <a:t>Despite a slight reduction in its crush forecast, USDA’s projected soybean meal supplies increase due to larger carryin stocks and a reduction in ending stocks. USDA offsets the larger supply with a significant increase in exports and a smaller increase in domestic feed usage.</a:t>
            </a:r>
          </a:p>
          <a:p>
            <a:pPr marL="457200"/>
            <a:endParaRPr lang="en-US" sz="1500">
              <a:latin typeface="Century Gothic" charset="0"/>
              <a:ea typeface="Century Gothic" charset="0"/>
              <a:cs typeface="Century Gothic" charset="0"/>
            </a:endParaRPr>
          </a:p>
          <a:p>
            <a:pPr marL="457200"/>
            <a:r>
              <a:rPr lang="en-US" sz="1500">
                <a:latin typeface="Century Gothic" charset="0"/>
                <a:ea typeface="Century Gothic" charset="0"/>
                <a:cs typeface="Century Gothic" charset="0"/>
              </a:rPr>
              <a:t>The Jacobsen also increases exports significantly and slightly more than USDA, as Brazil takes advantage of flat Argentine exports and growth in world soybean meal demand. </a:t>
            </a:r>
          </a:p>
          <a:p>
            <a:pPr marL="457200"/>
            <a:endParaRPr lang="en-US" sz="1500">
              <a:latin typeface="Century Gothic" charset="0"/>
              <a:ea typeface="Century Gothic" charset="0"/>
              <a:cs typeface="Century Gothic" charset="0"/>
            </a:endParaRPr>
          </a:p>
          <a:p>
            <a:pPr marL="457200"/>
            <a:r>
              <a:rPr lang="en-US" sz="1500">
                <a:latin typeface="Century Gothic" charset="0"/>
                <a:ea typeface="Century Gothic" charset="0"/>
                <a:cs typeface="Century Gothic" charset="0"/>
              </a:rPr>
              <a:t>Soybean meal supplies also increase in the Jacobsen’s projections and are offset in a similar manner with the increased exports accompanied by a small increase in domestic usage and a small decrease in ending stocks.</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91D15506-A2CE-4CA8-8F70-EDF8E5AF5442}"/>
              </a:ext>
            </a:extLst>
          </p:cNvPr>
          <p:cNvPicPr>
            <a:picLocks noChangeAspect="1"/>
          </p:cNvPicPr>
          <p:nvPr/>
        </p:nvPicPr>
        <p:blipFill>
          <a:blip r:embed="rId4"/>
          <a:stretch>
            <a:fillRect/>
          </a:stretch>
        </p:blipFill>
        <p:spPr>
          <a:xfrm>
            <a:off x="5326850" y="341233"/>
            <a:ext cx="6712486" cy="4875073"/>
          </a:xfrm>
          <a:prstGeom prst="rect">
            <a:avLst/>
          </a:prstGeom>
        </p:spPr>
      </p:pic>
    </p:spTree>
    <p:extLst>
      <p:ext uri="{BB962C8B-B14F-4D97-AF65-F5344CB8AC3E}">
        <p14:creationId xmlns:p14="http://schemas.microsoft.com/office/powerpoint/2010/main" val="1443150792"/>
      </p:ext>
    </p:extLst>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DAEA0069-1969-4030-848A-8D24CAA5DA8D}"/>
              </a:ext>
            </a:extLst>
          </p:cNvPr>
          <p:cNvPicPr>
            <a:picLocks noChangeAspect="1"/>
          </p:cNvPicPr>
          <p:nvPr/>
        </p:nvPicPr>
        <p:blipFill>
          <a:blip r:embed="rId4"/>
          <a:stretch>
            <a:fillRect/>
          </a:stretch>
        </p:blipFill>
        <p:spPr>
          <a:xfrm>
            <a:off x="1041592" y="504595"/>
            <a:ext cx="10746300" cy="3351127"/>
          </a:xfrm>
          <a:prstGeom prst="rect">
            <a:avLst/>
          </a:prstGeom>
        </p:spPr>
      </p:pic>
    </p:spTree>
    <p:extLst>
      <p:ext uri="{BB962C8B-B14F-4D97-AF65-F5344CB8AC3E}">
        <p14:creationId xmlns:p14="http://schemas.microsoft.com/office/powerpoint/2010/main" val="1253951220"/>
      </p:ext>
    </p:extLst>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08923" y="341840"/>
            <a:ext cx="4518792" cy="390465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600">
                <a:latin typeface="Century Gothic" charset="0"/>
                <a:ea typeface="Century Gothic" charset="0"/>
                <a:cs typeface="Century Gothic" charset="0"/>
              </a:rPr>
              <a:t>USDA and The Jacobsen have similar projections for Brazilian soybean oil but get there in slightly different ways. </a:t>
            </a:r>
          </a:p>
          <a:p>
            <a:pPr marL="457200"/>
            <a:endParaRPr lang="en-US" sz="1600">
              <a:latin typeface="Century Gothic" charset="0"/>
              <a:ea typeface="Century Gothic" charset="0"/>
              <a:cs typeface="Century Gothic" charset="0"/>
            </a:endParaRPr>
          </a:p>
          <a:p>
            <a:pPr marL="457200"/>
            <a:r>
              <a:rPr lang="en-US" sz="1600">
                <a:latin typeface="Century Gothic" charset="0"/>
                <a:ea typeface="Century Gothic" charset="0"/>
                <a:cs typeface="Century Gothic" charset="0"/>
              </a:rPr>
              <a:t>USDA’s smaller production is offset with an increase in supplies due to larger carryin stocks and smaller ending stocks, which are offset with a small increase in biodiesel production, a larger increase in exports and steady food usage. </a:t>
            </a:r>
          </a:p>
          <a:p>
            <a:pPr marL="457200"/>
            <a:endParaRPr lang="en-US" sz="1600">
              <a:latin typeface="Century Gothic" charset="0"/>
              <a:ea typeface="Century Gothic" charset="0"/>
              <a:cs typeface="Century Gothic" charset="0"/>
            </a:endParaRPr>
          </a:p>
          <a:p>
            <a:pPr marL="457200"/>
            <a:r>
              <a:rPr lang="en-US" sz="1600">
                <a:latin typeface="Century Gothic" charset="0"/>
                <a:ea typeface="Century Gothic" charset="0"/>
                <a:cs typeface="Century Gothic" charset="0"/>
              </a:rPr>
              <a:t>The Jacobsen gets most of its larger supply from the larger crush, but offset the increase in supply with increases in domestic usage and exports that are similar to USDA’s projections.</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8ADEDA49-B7C2-4DE6-B34E-754475ABFBDA}"/>
              </a:ext>
            </a:extLst>
          </p:cNvPr>
          <p:cNvPicPr>
            <a:picLocks noChangeAspect="1"/>
          </p:cNvPicPr>
          <p:nvPr/>
        </p:nvPicPr>
        <p:blipFill>
          <a:blip r:embed="rId4"/>
          <a:stretch>
            <a:fillRect/>
          </a:stretch>
        </p:blipFill>
        <p:spPr>
          <a:xfrm>
            <a:off x="5329988" y="341840"/>
            <a:ext cx="6711649" cy="4874465"/>
          </a:xfrm>
          <a:prstGeom prst="rect">
            <a:avLst/>
          </a:prstGeom>
        </p:spPr>
      </p:pic>
    </p:spTree>
    <p:extLst>
      <p:ext uri="{BB962C8B-B14F-4D97-AF65-F5344CB8AC3E}">
        <p14:creationId xmlns:p14="http://schemas.microsoft.com/office/powerpoint/2010/main" val="387795446"/>
      </p:ext>
    </p:extLst>
  </p:cSld>
  <p:clrMapOvr>
    <a:masterClrMapping/>
  </p:clrMapOvr>
  <p:transition/>
  <p:timing/>
</p:sld>
</file>

<file path=ppt/slides/slide1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BRAZIL</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08782E45-B927-4C3B-841A-CDD1CD706FDC}"/>
              </a:ext>
            </a:extLst>
          </p:cNvPr>
          <p:cNvPicPr>
            <a:picLocks noChangeAspect="1"/>
          </p:cNvPicPr>
          <p:nvPr/>
        </p:nvPicPr>
        <p:blipFill>
          <a:blip r:embed="rId4"/>
          <a:stretch>
            <a:fillRect/>
          </a:stretch>
        </p:blipFill>
        <p:spPr>
          <a:xfrm>
            <a:off x="1205798" y="517298"/>
            <a:ext cx="10508048" cy="3509876"/>
          </a:xfrm>
          <a:prstGeom prst="rect">
            <a:avLst/>
          </a:prstGeom>
        </p:spPr>
      </p:pic>
    </p:spTree>
    <p:extLst>
      <p:ext uri="{BB962C8B-B14F-4D97-AF65-F5344CB8AC3E}">
        <p14:creationId xmlns:p14="http://schemas.microsoft.com/office/powerpoint/2010/main" val="1448519822"/>
      </p:ext>
    </p:extLst>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25487" y="348556"/>
            <a:ext cx="4518792" cy="3292183"/>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800">
                <a:latin typeface="Century Gothic" charset="0"/>
                <a:ea typeface="Century Gothic" charset="0"/>
                <a:cs typeface="Century Gothic" charset="0"/>
              </a:rPr>
              <a:t>The US crush is forecast to reach a record during the 2017/18 marketing year, but it has not being driven by the drought in Argentina. The record crush has been driven by strong domestic meal demand. However, if domestic demand is not as strong as anticipated, the drought could provide opportunities for growth in soybean meal exports that could continue support crush margins, although probably not at the same levels.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298BA254-A7EA-4812-BF2E-1C4498B79AE9}"/>
              </a:ext>
            </a:extLst>
          </p:cNvPr>
          <p:cNvPicPr>
            <a:picLocks noChangeAspect="1"/>
          </p:cNvPicPr>
          <p:nvPr/>
        </p:nvPicPr>
        <p:blipFill>
          <a:blip r:embed="rId4"/>
          <a:stretch>
            <a:fillRect/>
          </a:stretch>
        </p:blipFill>
        <p:spPr>
          <a:xfrm>
            <a:off x="5492011" y="341232"/>
            <a:ext cx="6549627" cy="4875073"/>
          </a:xfrm>
          <a:prstGeom prst="rect">
            <a:avLst/>
          </a:prstGeom>
        </p:spPr>
      </p:pic>
    </p:spTree>
    <p:extLst>
      <p:ext uri="{BB962C8B-B14F-4D97-AF65-F5344CB8AC3E}">
        <p14:creationId xmlns:p14="http://schemas.microsoft.com/office/powerpoint/2010/main" val="3419987758"/>
      </p:ext>
    </p:extLst>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25487" y="341785"/>
            <a:ext cx="4518792" cy="4443268"/>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700">
                <a:latin typeface="Century Gothic" charset="0"/>
                <a:ea typeface="Century Gothic" charset="0"/>
                <a:cs typeface="Century Gothic" charset="0"/>
              </a:rPr>
              <a:t>US soybean exports could benefit marginally from the drought in Argentina. The Jacobsen is projecting Argentine soybean exports to China will decline by 1.5 million tonnes. The US could increase its shipments to China by close to that amount, particularly now that the concerns about Chinese tariffs have receded. However, Brazil’s record crop will also provide an opportunity for Brazilian shipments to fill some of the gap left by Argentina. </a:t>
            </a:r>
          </a:p>
          <a:p>
            <a:pPr marL="457200"/>
            <a:endParaRPr lang="en-US" sz="1700">
              <a:latin typeface="Century Gothic" charset="0"/>
              <a:ea typeface="Century Gothic" charset="0"/>
              <a:cs typeface="Century Gothic" charset="0"/>
            </a:endParaRPr>
          </a:p>
          <a:p>
            <a:pPr marL="457200"/>
            <a:r>
              <a:rPr lang="en-US" sz="1700">
                <a:latin typeface="Century Gothic" charset="0"/>
                <a:ea typeface="Century Gothic" charset="0"/>
                <a:cs typeface="Century Gothic" charset="0"/>
              </a:rPr>
              <a:t>The Jacobsen is currently projecting 2017/18 US soybean exports at two billion bushels, which is well below USDA’s May projection of 2.07 billion.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118AF7B8-A209-4263-951D-0F745D38D050}"/>
              </a:ext>
            </a:extLst>
          </p:cNvPr>
          <p:cNvPicPr>
            <a:picLocks noChangeAspect="1"/>
          </p:cNvPicPr>
          <p:nvPr/>
        </p:nvPicPr>
        <p:blipFill>
          <a:blip r:embed="rId4"/>
          <a:stretch>
            <a:fillRect/>
          </a:stretch>
        </p:blipFill>
        <p:spPr>
          <a:xfrm>
            <a:off x="5492752" y="341785"/>
            <a:ext cx="6548886" cy="4874522"/>
          </a:xfrm>
          <a:prstGeom prst="rect">
            <a:avLst/>
          </a:prstGeom>
        </p:spPr>
      </p:pic>
    </p:spTree>
    <p:extLst>
      <p:ext uri="{BB962C8B-B14F-4D97-AF65-F5344CB8AC3E}">
        <p14:creationId xmlns:p14="http://schemas.microsoft.com/office/powerpoint/2010/main" val="4054106868"/>
      </p:ext>
    </p:extLst>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1B70A9BB-B200-4530-8C09-C7CA58E9B311}"/>
              </a:ext>
            </a:extLst>
          </p:cNvPr>
          <p:cNvPicPr>
            <a:picLocks noChangeAspect="1"/>
          </p:cNvPicPr>
          <p:nvPr/>
        </p:nvPicPr>
        <p:blipFill>
          <a:blip r:embed="rId4"/>
          <a:stretch>
            <a:fillRect/>
          </a:stretch>
        </p:blipFill>
        <p:spPr>
          <a:xfrm>
            <a:off x="1006663" y="504595"/>
            <a:ext cx="8529866" cy="4694179"/>
          </a:xfrm>
          <a:prstGeom prst="rect">
            <a:avLst/>
          </a:prstGeom>
        </p:spPr>
      </p:pic>
    </p:spTree>
    <p:extLst>
      <p:ext uri="{BB962C8B-B14F-4D97-AF65-F5344CB8AC3E}">
        <p14:creationId xmlns:p14="http://schemas.microsoft.com/office/powerpoint/2010/main" val="3133469282"/>
      </p:ext>
    </p:extLst>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08923" y="345847"/>
            <a:ext cx="4518792" cy="1547090"/>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800">
                <a:latin typeface="Century Gothic" charset="0"/>
                <a:ea typeface="Century Gothic" charset="0"/>
                <a:cs typeface="Century Gothic" charset="0"/>
              </a:rPr>
              <a:t>The Jacobsen and USDA have similar outlooks for US soybean meal balance sheets with stronger domestic usage and exports offsetting the increased supply from the record crush.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B066EB3F-3586-451C-98E8-B8D2E1B2FA22}"/>
              </a:ext>
            </a:extLst>
          </p:cNvPr>
          <p:cNvPicPr>
            <a:picLocks noChangeAspect="1"/>
          </p:cNvPicPr>
          <p:nvPr/>
        </p:nvPicPr>
        <p:blipFill>
          <a:blip r:embed="rId4"/>
          <a:stretch>
            <a:fillRect/>
          </a:stretch>
        </p:blipFill>
        <p:spPr>
          <a:xfrm>
            <a:off x="5335504" y="345847"/>
            <a:ext cx="6706133" cy="4870459"/>
          </a:xfrm>
          <a:prstGeom prst="rect">
            <a:avLst/>
          </a:prstGeom>
        </p:spPr>
      </p:pic>
    </p:spTree>
    <p:extLst>
      <p:ext uri="{BB962C8B-B14F-4D97-AF65-F5344CB8AC3E}">
        <p14:creationId xmlns:p14="http://schemas.microsoft.com/office/powerpoint/2010/main" val="1119833054"/>
      </p:ext>
    </p:extLst>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a:extLst>
              <a:ext uri="{FF2B5EF4-FFF2-40B4-BE49-F238E27FC236}">
                <a16:creationId xmlns:a16="http://schemas.microsoft.com/office/drawing/2014/main" id="{71E74E0B-B0E6-4C74-854D-3C5609E68CAF}"/>
              </a:ext>
            </a:extLst>
          </p:cNvPr>
          <p:cNvPicPr>
            <a:picLocks noChangeAspect="1"/>
          </p:cNvPicPr>
          <p:nvPr/>
        </p:nvPicPr>
        <p:blipFill>
          <a:blip r:embed="rId4"/>
          <a:stretch>
            <a:fillRect/>
          </a:stretch>
        </p:blipFill>
        <p:spPr>
          <a:xfrm>
            <a:off x="994631" y="517298"/>
            <a:ext cx="10588446" cy="3825399"/>
          </a:xfrm>
          <a:prstGeom prst="rect">
            <a:avLst/>
          </a:prstGeom>
        </p:spPr>
      </p:pic>
    </p:spTree>
    <p:extLst>
      <p:ext uri="{BB962C8B-B14F-4D97-AF65-F5344CB8AC3E}">
        <p14:creationId xmlns:p14="http://schemas.microsoft.com/office/powerpoint/2010/main" val="2000363468"/>
      </p:ext>
    </p:extLst>
  </p:cSld>
  <p:clrMapOvr>
    <a:masterClrMapping/>
  </p:clrMapOvr>
  <p:transition/>
  <p:timing/>
</p:sld>
</file>

<file path=ppt/slides/slide2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608923" y="418791"/>
            <a:ext cx="4518792" cy="3750770"/>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457200"/>
            <a:r>
              <a:rPr lang="en-US" sz="1600">
                <a:latin typeface="Century Gothic" charset="0"/>
                <a:ea typeface="Century Gothic" charset="0"/>
                <a:cs typeface="Century Gothic" charset="0"/>
              </a:rPr>
              <a:t>The Jacobsen and USDA both expect soybean oil exports to decrease from last year as increased usage in biodiesel production crowds makes US exports more expensive. However, The Jacobsen believes US exports will decline more than USDA. </a:t>
            </a:r>
          </a:p>
          <a:p>
            <a:pPr marL="457200"/>
            <a:endParaRPr lang="en-US" sz="1600">
              <a:latin typeface="Century Gothic" charset="0"/>
              <a:ea typeface="Century Gothic" charset="0"/>
              <a:cs typeface="Century Gothic" charset="0"/>
            </a:endParaRPr>
          </a:p>
          <a:p>
            <a:pPr marL="457200"/>
            <a:r>
              <a:rPr lang="en-US" sz="1600">
                <a:latin typeface="Century Gothic" charset="0"/>
                <a:ea typeface="Century Gothic" charset="0"/>
                <a:cs typeface="Century Gothic" charset="0"/>
              </a:rPr>
              <a:t>The Jacobsen differs with USDA in minor ways in its soybean oil balance sheets, but the sum of those minor differences (The Jacobsen is projecting smaller biodiesel production, food usage and exports) results in The Jacobsen projecting ending stocks that are significantly above USDA’s projections.</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C807FBF9-4C19-4DE4-AA1B-93F6AE4936C6}"/>
              </a:ext>
            </a:extLst>
          </p:cNvPr>
          <p:cNvPicPr>
            <a:picLocks noChangeAspect="1"/>
          </p:cNvPicPr>
          <p:nvPr/>
        </p:nvPicPr>
        <p:blipFill>
          <a:blip r:embed="rId4"/>
          <a:stretch>
            <a:fillRect/>
          </a:stretch>
        </p:blipFill>
        <p:spPr>
          <a:xfrm>
            <a:off x="5389520" y="345847"/>
            <a:ext cx="6652118" cy="4831229"/>
          </a:xfrm>
          <a:prstGeom prst="rect">
            <a:avLst/>
          </a:prstGeom>
        </p:spPr>
      </p:pic>
    </p:spTree>
    <p:extLst>
      <p:ext uri="{BB962C8B-B14F-4D97-AF65-F5344CB8AC3E}">
        <p14:creationId xmlns:p14="http://schemas.microsoft.com/office/powerpoint/2010/main" val="257497240"/>
      </p:ext>
    </p:extLst>
  </p:cSld>
  <p:clrMapOvr>
    <a:masterClrMapping/>
  </p:clrMapOvr>
  <p:transition/>
  <p:timing/>
</p:sld>
</file>

<file path=ppt/slides/slide2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spTree>
      <p:nvGrpSpPr>
        <p:cNvPr id="1" name=""/>
        <p:cNvGrpSpPr/>
        <p:nvPr/>
      </p:nvGrpSpPr>
      <p:grpSpPr>
        <a:xfrm>
          <a:off x="0" y="0"/>
          <a:ext cx="0" cy="0"/>
        </a:xfrm>
      </p:grpSpPr>
      <p:sp>
        <p:nvSpPr>
          <p:cNvPr id="489" name="Shape 489"/>
          <p:cNvSpPr>
            <a:spLocks noGrp="1"/>
          </p:cNvSpPr>
          <p:nvPr>
            <p:ph type="title" idx="4294967295"/>
          </p:nvPr>
        </p:nvSpPr>
        <p:spPr>
          <a:xfrm>
            <a:off x="835928" y="5216306"/>
            <a:ext cx="1205711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a:solidFill>
                  <a:schemeClr val="tx1">
                    <a:lumMod val="50000"/>
                    <a:lumOff val="50000"/>
                  </a:schemeClr>
                </a:solidFill>
                <a:latin typeface="Franklin Gothic Demi Cond" charset="0"/>
                <a:ea typeface="Franklin Gothic Demi Cond" charset="0"/>
                <a:cs typeface="Franklin Gothic Demi Cond" charset="0"/>
              </a:rPr>
              <a:t>UNITED STATES</a:t>
            </a:r>
            <a:endParaRPr sz="830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633743" cy="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extLst/>
          </a:blip>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8D801237-4EB5-4834-B783-3953F7387F1A}"/>
              </a:ext>
            </a:extLst>
          </p:cNvPr>
          <p:cNvPicPr>
            <a:picLocks noChangeAspect="1"/>
          </p:cNvPicPr>
          <p:nvPr/>
        </p:nvPicPr>
        <p:blipFill>
          <a:blip r:embed="rId4"/>
          <a:stretch>
            <a:fillRect/>
          </a:stretch>
        </p:blipFill>
        <p:spPr>
          <a:xfrm>
            <a:off x="970568" y="517297"/>
            <a:ext cx="10530070" cy="4058667"/>
          </a:xfrm>
          <a:prstGeom prst="rect">
            <a:avLst/>
          </a:prstGeom>
        </p:spPr>
      </p:pic>
    </p:spTree>
    <p:extLst>
      <p:ext uri="{BB962C8B-B14F-4D97-AF65-F5344CB8AC3E}">
        <p14:creationId xmlns:p14="http://schemas.microsoft.com/office/powerpoint/2010/main" val="1596735487"/>
      </p:ext>
    </p:extLst>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8.12.12"/>
  <p:tag name="AS_TITLE" val="Aspose.Slides for .NET 4.0"/>
  <p:tag name="AS_VERSION" val="18.1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0BE37ED0A674AAABCCCF211CFB64F" ma:contentTypeVersion="16" ma:contentTypeDescription="Create a new document." ma:contentTypeScope="" ma:versionID="29a6905665880213066aaa9aaf14929c">
  <xsd:schema xmlns:xsd="http://www.w3.org/2001/XMLSchema" xmlns:xs="http://www.w3.org/2001/XMLSchema" xmlns:p="http://schemas.microsoft.com/office/2006/metadata/properties" xmlns:ns2="cf2ac421-1284-4088-96c3-18e1d2d8f03a" xmlns:ns3="0052aaab-b9fb-4904-b07b-fd4c19a80e9a" targetNamespace="http://schemas.microsoft.com/office/2006/metadata/properties" ma:root="true" ma:fieldsID="3af383b8dc086b58afe32f0c8bed5599" ns2:_="" ns3:_="">
    <xsd:import namespace="cf2ac421-1284-4088-96c3-18e1d2d8f03a"/>
    <xsd:import namespace="0052aaab-b9fb-4904-b07b-fd4c19a80e9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2ac421-1284-4088-96c3-18e1d2d8f03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4598ee4-d5e5-4f6c-b9da-4d48f8cc1368}" ma:internalName="TaxCatchAll" ma:showField="CatchAllData" ma:web="cf2ac421-1284-4088-96c3-18e1d2d8f0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052aaab-b9fb-4904-b07b-fd4c19a80e9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ddd575e-f966-4c21-8ccb-2dbfe9c821f2"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f2ac421-1284-4088-96c3-18e1d2d8f03a" xsi:nil="true"/>
    <lcf76f155ced4ddcb4097134ff3c332f xmlns="0052aaab-b9fb-4904-b07b-fd4c19a80e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A093267-180B-40F2-9DCE-61DBAB7C4E44}"/>
</file>

<file path=customXml/itemProps2.xml><?xml version="1.0" encoding="utf-8"?>
<ds:datastoreItem xmlns:ds="http://schemas.openxmlformats.org/officeDocument/2006/customXml" ds:itemID="{63F1F89B-91D4-4C4C-B517-1C28B40AC4F4}"/>
</file>

<file path=customXml/itemProps3.xml><?xml version="1.0" encoding="utf-8"?>
<ds:datastoreItem xmlns:ds="http://schemas.openxmlformats.org/officeDocument/2006/customXml" ds:itemID="{B194BC6A-C899-4512-AC9F-0A883FEF6F09}"/>
</file>

<file path=docProps/app.xml><?xml version="1.0" encoding="utf-8"?>
<Properties xmlns:vt="http://schemas.openxmlformats.org/officeDocument/2006/docPropsVTypes" xmlns="http://schemas.openxmlformats.org/officeDocument/2006/extended-properties">
  <Company/>
  <PresentationFormat>Widescreen</PresentationFormat>
  <Paragraphs>59</Paragraphs>
  <Slides>23</Slides>
  <Notes>22</Notes>
  <TotalTime>1128</TotalTime>
  <HiddenSlides>0</HiddenSlides>
  <MMClips>0</MMClips>
  <ScaleCrop>0</ScaleCrop>
  <HeadingPairs>
    <vt:vector baseType="variant" size="4">
      <vt:variant>
        <vt:lpstr>Theme</vt:lpstr>
      </vt:variant>
      <vt:variant>
        <vt:i4>1</vt:i4>
      </vt:variant>
      <vt:variant>
        <vt:lpstr>Slide Titles</vt:lpstr>
      </vt:variant>
      <vt:variant>
        <vt:i4>23</vt:i4>
      </vt:variant>
    </vt:vector>
  </HeadingPairs>
  <TitlesOfParts>
    <vt:vector baseType="lpstr" size="24">
      <vt:lpstr>Office Theme</vt:lpstr>
      <vt:lpstr>Slide 1</vt:lpstr>
      <vt:lpstr>Slide 2</vt:lpstr>
      <vt:lpstr>ARGENTINA</vt:lpstr>
      <vt:lpstr>ARGENTINA</vt:lpstr>
      <vt:lpstr>ARGENTINA</vt:lpstr>
      <vt:lpstr>ARGENTINA</vt:lpstr>
      <vt:lpstr>ARGENTINA</vt:lpstr>
      <vt:lpstr>ARGENTINA</vt:lpstr>
      <vt:lpstr>ARGENTINA</vt:lpstr>
      <vt:lpstr>ARGENTINA</vt:lpstr>
      <vt:lpstr>BRAZIL</vt:lpstr>
      <vt:lpstr>BRAZIL</vt:lpstr>
      <vt:lpstr>BRAZIL</vt:lpstr>
      <vt:lpstr>BRAZIL</vt:lpstr>
      <vt:lpstr>BRAZIL</vt:lpstr>
      <vt:lpstr>BRAZIL</vt:lpstr>
      <vt:lpstr>UNITED STATES</vt:lpstr>
      <vt:lpstr>UNITED STATES</vt:lpstr>
      <vt:lpstr>UNITED STATES</vt:lpstr>
      <vt:lpstr>UNITED STATES</vt:lpstr>
      <vt:lpstr>UNITED STATES</vt:lpstr>
      <vt:lpstr>UNITED STATES</vt:lpstr>
      <vt:lpstr>UNITED STATES</vt:lpstr>
    </vt:vector>
  </TitlesOfParts>
  <LinksUpToDate>0</LinksUpToDate>
  <SharedDoc>0</SharedDoc>
  <HyperlinksChanged>0</HyperlinksChanged>
  <Application>Aspose.Slides for .NET</Application>
  <AppVersion>18.1200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Tore Alden</dc:creator>
  <cp:lastModifiedBy>Tore Alden</cp:lastModifiedBy>
  <cp:revision>21</cp:revision>
  <dcterms:created xsi:type="dcterms:W3CDTF">2018-05-21T22:16:54Z</dcterms:created>
  <dcterms:modified xsi:type="dcterms:W3CDTF">2021-04-28T14:35:52Z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NKTEK-CHUNK-1">
    <vt:lpwstr>010021{"F":2,"I":"C33C-12A7-7C95-5223"}</vt:lpwstr>
  </property>
  <property fmtid="{D5CDD505-2E9C-101B-9397-08002B2CF9AE}" pid="3" name="ContentTypeId">
    <vt:lpwstr>0x010100C810BE37ED0A674AAABCCCF211CFB64F</vt:lpwstr>
  </property>
  <property fmtid="{D5CDD505-2E9C-101B-9397-08002B2CF9AE}" pid="4" name="Order">
    <vt:r8>2800</vt:r8>
  </property>
</Properties>
</file>