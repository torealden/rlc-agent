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jpeg" ContentType="image/jpeg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.NET 18.1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686" r:id="rId3"/>
    <p:sldId id="687" r:id="rId4"/>
    <p:sldId id="755" r:id="rId5"/>
    <p:sldId id="753" r:id="rId6"/>
    <p:sldId id="756" r:id="rId7"/>
    <p:sldId id="757" r:id="rId8"/>
    <p:sldId id="758" r:id="rId9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viewProps" Target="viewProps.xml"/><Relationship Id="rId7" Type="http://schemas.openxmlformats.org/officeDocument/2006/relationships/slide" Target="slides/slide5.xml"/><Relationship Id="rId17" Type="http://schemas.openxmlformats.org/officeDocument/2006/relationships/customXml" Target="../customXml/item3.xml"/><Relationship Id="rId2" Type="http://schemas.openxmlformats.org/officeDocument/2006/relationships/notesMaster" Target="notesMasters/notesMaster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5" Type="http://schemas.openxmlformats.org/officeDocument/2006/relationships/customXml" Target="../customXml/item1.xml"/><Relationship Id="rId10" Type="http://schemas.openxmlformats.org/officeDocument/2006/relationships/tags" Target="tags/tag1.xml"/><Relationship Id="rId1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C2423-D792-4E1A-82C2-0215B962E670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9E069-4186-4AAB-887A-C9C94097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19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34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56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52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06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81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49621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32D8C-5AD7-42DF-9BE2-FD04D1764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33A28-9D42-4B32-B050-54CCE355A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E9FC7-45C2-4B7F-A387-77DD9E937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0817-BB42-4472-907F-0B528869A3F7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31D22-D0B3-459C-B98B-6CB9E110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DBD11-A19C-4F2F-80AB-4C16B7429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23A3-2AE1-4579-BD89-EA87D4E66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82274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ABADA-45B9-45EF-B518-6D93E0F9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9236F-2A80-4E2D-ADB9-80F50F1A8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67C85-45C2-444F-90AD-D7A6927F2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0817-BB42-4472-907F-0B528869A3F7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1A9DC-0B12-4BFE-BEA1-941BD8779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A9602-601C-40D7-8581-220E6FB5A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23A3-2AE1-4579-BD89-EA87D4E66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25293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4CC0-0E8B-43A6-BF19-539451CE4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F29E3-B178-4461-ABE2-4AE6585BE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F3A51-8E13-491C-B668-9A4C9AF1F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0817-BB42-4472-907F-0B528869A3F7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D7E1C-0D7D-4CFC-BE99-8DB0F955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2D8E0-D842-491D-9E5B-8CCB1AFB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23A3-2AE1-4579-BD89-EA87D4E66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79401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8C163-1A07-4550-8F01-219AABAD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7B46E-2C0A-40AC-BB81-EB064079C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6F324-11C2-42A7-9456-C0A8F1CB2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732B4-0412-4DCC-852B-52FD3C7D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0817-BB42-4472-907F-0B528869A3F7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85678-A00D-4BA8-AD1F-A6CF7279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0E057-C4C6-4686-A82E-B74A26D3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23A3-2AE1-4579-BD89-EA87D4E66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46396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266A5-B823-4C39-9A51-FB21692B9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F22BD-CED4-44A7-92AE-09428F441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8FBEA-4FF5-4F73-8435-51E35F322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99AF87-CEFF-4792-827A-A2807EFA88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2BE02-0ACC-4047-A161-03F8B4CA3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8C001-2D4A-474C-8F44-079D2CF08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0817-BB42-4472-907F-0B528869A3F7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40E645-60C4-4341-8C0B-CB2457EA2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E16BCC-6C9F-4264-B441-1707422A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23A3-2AE1-4579-BD89-EA87D4E66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9383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C815B-B159-4DE0-9F19-C2897438F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6BE971-51D3-4EFD-9754-31B4891B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0817-BB42-4472-907F-0B528869A3F7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41F4E-ABA9-4825-A15F-DE49157AE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EC16E-FFDE-4885-9187-DA729B868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23A3-2AE1-4579-BD89-EA87D4E66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63240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CB3BBC-A83E-4FBB-B64A-71B0C93B7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0817-BB42-4472-907F-0B528869A3F7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9EB938-D7BA-45C6-BFA5-0B744BD86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6FB1E-85D0-4546-95EB-9CBCCF0A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23A3-2AE1-4579-BD89-EA87D4E66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40650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A53ED-C43D-4009-83B1-60A294BF1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5C07D-9B8C-43C8-AE07-2D9CED6BB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F8C16-12DE-452F-82F7-DBF39B579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719EC-4167-4B9C-9CBA-7F1C09657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0817-BB42-4472-907F-0B528869A3F7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13A34-069B-4AFB-B488-C0C6B5A70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2206E-44CC-42F8-81C0-B4AB08F4B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23A3-2AE1-4579-BD89-EA87D4E66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82591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D2140-F2F6-4C84-92AD-DD3750F99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E88F00-76BF-4C41-A235-4E3686C54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FF71D-5809-408C-B10A-9087812C8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512DF-6E9D-4FC5-B605-F3B2142A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0817-BB42-4472-907F-0B528869A3F7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8BF1E-1487-4B64-A93B-12AA9155F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DBB03-70B2-4364-8C2B-2380A480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23A3-2AE1-4579-BD89-EA87D4E66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6526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1CC3-7FD8-4F8B-B391-E16ECC81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966794-561A-4AF9-8AB6-453F0F7E7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AE98C-C7B9-49DC-BEEB-62FA855E1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0817-BB42-4472-907F-0B528869A3F7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9C254-3AEB-425A-9B13-1B2285D1A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058D8-864B-40E0-A767-ED3DC7DD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23A3-2AE1-4579-BD89-EA87D4E66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31834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E598CD-64C2-41F2-BC79-42E5823F9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69CDA-9CC8-4B6F-9D30-19A052E4D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126B2-2F25-4FDD-BE84-63F5E384E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0817-BB42-4472-907F-0B528869A3F7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EEAA2-690E-485B-9E68-8EA20D97C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6887D-8710-4A55-82E2-68A53442F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23A3-2AE1-4579-BD89-EA87D4E66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83382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D7B779-E6EC-4761-B3F1-301686F59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91A79-DA1B-4821-9AE3-45D6C7980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BD397-407D-45E7-BECB-F7EE57320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60817-BB42-4472-907F-0B528869A3F7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0C0C3-1481-4135-8D3F-7F9472E63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31402-5E01-4C66-90CC-11C59B929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723A3-2AE1-4579-BD89-EA87D4E66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8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www.usda.gov/oce/commodity/wasde/" TargetMode="External" /><Relationship Id="rId4" Type="http://schemas.openxmlformats.org/officeDocument/2006/relationships/hyperlink" Target="http://usda.mannlib.cornell.edu/MannUsda/viewDocumentInfo.do?documentID=1902" TargetMode="External" /><Relationship Id="rId5" Type="http://schemas.openxmlformats.org/officeDocument/2006/relationships/hyperlink" Target="http://usda.mannlib.cornell.edu/MannUsda/viewDocumentInfo.do?documentID=1899" TargetMode="External" /><Relationship Id="rId6" Type="http://schemas.openxmlformats.org/officeDocument/2006/relationships/image" Target="../media/image1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www.eia.gov/biofuels/biodiesel/production/" TargetMode="External" /><Relationship Id="rId4" Type="http://schemas.openxmlformats.org/officeDocument/2006/relationships/hyperlink" Target="https://copacanada.com/crush-oil-meal-production/" TargetMode="External" /><Relationship Id="rId5" Type="http://schemas.openxmlformats.org/officeDocument/2006/relationships/hyperlink" Target="https://www.globaltradetracker.com/gtt/secure/gttAnalytics.action" TargetMode="External" /><Relationship Id="rId6" Type="http://schemas.openxmlformats.org/officeDocument/2006/relationships/hyperlink" Target="https://apps.fas.usda.gov/export-sales/esrd1.html" TargetMode="External" /><Relationship Id="rId7" Type="http://schemas.openxmlformats.org/officeDocument/2006/relationships/image" Target="../media/image1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1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1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22" name="Shape 122"/>
          <p:cNvSpPr/>
          <p:nvPr/>
        </p:nvSpPr>
        <p:spPr>
          <a:xfrm>
            <a:off x="7463831" y="4836636"/>
            <a:ext cx="51296" cy="689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830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defRPr>
            </a:lvl1pPr>
          </a:lstStyle>
          <a:p>
            <a:endParaRPr lang="en-US" sz="4150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4001" y="2136338"/>
            <a:ext cx="11684000" cy="3250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25195">
              <a:lnSpc>
                <a:spcPct val="90000"/>
              </a:lnSpc>
              <a:spcBef>
                <a:spcPct val="0"/>
              </a:spcBef>
            </a:pPr>
            <a:r>
              <a:rPr lang="en-US" sz="6000">
                <a:solidFill>
                  <a:schemeClr val="accent1">
                    <a:lumMod val="50000"/>
                  </a:schemeClr>
                </a:solidFill>
                <a:latin typeface="Franklin Gothic Demi Cond" charset="0"/>
                <a:sym typeface="AXIS"/>
              </a:rPr>
              <a:t>BIOMASS BASED DIESEL OUTLOOK REPORT</a:t>
            </a:r>
          </a:p>
          <a:p>
            <a:pPr defTabSz="425195">
              <a:lnSpc>
                <a:spcPct val="90000"/>
              </a:lnSpc>
              <a:spcBef>
                <a:spcPct val="0"/>
              </a:spcBef>
            </a:pPr>
            <a:r>
              <a:rPr lang="en-US" sz="4400">
                <a:solidFill>
                  <a:schemeClr val="accent1">
                    <a:lumMod val="50000"/>
                  </a:schemeClr>
                </a:solidFill>
                <a:latin typeface="Franklin Gothic Demi Cond" charset="0"/>
                <a:sym typeface="AXIS"/>
              </a:rPr>
              <a:t>STRATEGY MEETING</a:t>
            </a:r>
          </a:p>
          <a:p>
            <a:pPr defTabSz="425195">
              <a:lnSpc>
                <a:spcPct val="90000"/>
              </a:lnSpc>
              <a:spcBef>
                <a:spcPct val="0"/>
              </a:spcBef>
            </a:pPr>
            <a:endParaRPr lang="en-US" sz="3200">
              <a:solidFill>
                <a:schemeClr val="accent1">
                  <a:lumMod val="50000"/>
                </a:schemeClr>
              </a:solidFill>
              <a:latin typeface="Century Gothic" panose="020b0502020202020204" pitchFamily="34" charset="0"/>
              <a:sym typeface="AXIS"/>
            </a:endParaRPr>
          </a:p>
          <a:p>
            <a:pPr defTabSz="425195">
              <a:lnSpc>
                <a:spcPct val="90000"/>
              </a:lnSpc>
              <a:spcBef>
                <a:spcPct val="0"/>
              </a:spcBef>
            </a:pPr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  <a:sym typeface="AXIS"/>
              </a:rPr>
              <a:t>JULY 2018</a:t>
            </a:r>
          </a:p>
        </p:txBody>
      </p:sp>
      <p:sp>
        <p:nvSpPr>
          <p:cNvPr id="9" name="Shape 119"/>
          <p:cNvSpPr/>
          <p:nvPr/>
        </p:nvSpPr>
        <p:spPr>
          <a:xfrm>
            <a:off x="1" y="4665307"/>
            <a:ext cx="12192000" cy="2192695"/>
          </a:xfrm>
          <a:prstGeom prst="rect">
            <a:avLst/>
          </a:prstGeom>
          <a:solidFill>
            <a:srgbClr val="243A48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defRPr sz="3200">
                <a:solidFill>
                  <a:srgbClr val="FFFFFF"/>
                </a:solidFill>
              </a:defRPr>
            </a:pPr>
            <a:endParaRPr sz="1600">
              <a:solidFill>
                <a:srgbClr val="F3E437"/>
              </a:solidFill>
            </a:endParaRPr>
          </a:p>
        </p:txBody>
      </p:sp>
      <p:pic>
        <p:nvPicPr>
          <p:cNvPr id="120" name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45751" y="3559909"/>
            <a:ext cx="3604216" cy="105047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23852027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89" name="Shape 489"/>
          <p:cNvSpPr>
            <a:spLocks noGrp="1"/>
          </p:cNvSpPr>
          <p:nvPr>
            <p:ph type="title" idx="4294967295"/>
          </p:nvPr>
        </p:nvSpPr>
        <p:spPr>
          <a:xfrm>
            <a:off x="835928" y="5216306"/>
            <a:ext cx="12057112" cy="912873"/>
          </a:xfrm>
          <a:prstGeom prst="rect">
            <a:avLst/>
          </a:prstGeom>
        </p:spPr>
        <p:txBody>
          <a:bodyPr vert="horz" lIns="22860" tIns="22860" rIns="22860" bIns="22860" rtlCol="0" anchor="ctr">
            <a:noAutofit/>
          </a:bodyPr>
          <a:lstStyle>
            <a:lvl1pPr algn="r" defTabSz="425195">
              <a:defRPr sz="9300">
                <a:solidFill>
                  <a:srgbClr val="253A49"/>
                </a:solidFill>
                <a:latin typeface="AXIS"/>
                <a:ea typeface="AXIS"/>
                <a:cs typeface="AXIS"/>
                <a:sym typeface="AXIS"/>
              </a:defRPr>
            </a:lvl1pPr>
          </a:lstStyle>
          <a:p>
            <a:pPr algn="l"/>
            <a:r>
              <a:rPr lang="en-US" sz="8300">
                <a:solidFill>
                  <a:schemeClr val="tx1">
                    <a:lumMod val="50000"/>
                    <a:lumOff val="50000"/>
                  </a:schemeClr>
                </a:solidFill>
                <a:latin typeface="Franklin Gothic Demi Cond" charset="0"/>
                <a:ea typeface="Franklin Gothic Demi Cond" charset="0"/>
                <a:cs typeface="Franklin Gothic Demi Cond" charset="0"/>
              </a:rPr>
              <a:t>REPORTS</a:t>
            </a:r>
            <a:endParaRPr sz="8300">
              <a:solidFill>
                <a:schemeClr val="tx1">
                  <a:lumMod val="50000"/>
                  <a:lumOff val="50000"/>
                </a:schemeClr>
              </a:solidFill>
              <a:latin typeface="Franklin Gothic Demi Cond" charset="0"/>
              <a:ea typeface="Franklin Gothic Demi Cond" charset="0"/>
              <a:cs typeface="Franklin Gothic Demi Cond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50917C-4338-FC44-9925-7935462157FB}"/>
              </a:ext>
            </a:extLst>
          </p:cNvPr>
          <p:cNvGrpSpPr/>
          <p:nvPr/>
        </p:nvGrpSpPr>
        <p:grpSpPr>
          <a:xfrm>
            <a:off x="666931" y="504596"/>
            <a:ext cx="11633743" cy="5687694"/>
            <a:chOff x="666931" y="504596"/>
            <a:chExt cx="11633743" cy="5687694"/>
          </a:xfrm>
        </p:grpSpPr>
        <p:sp>
          <p:nvSpPr>
            <p:cNvPr id="490" name="Shape 490"/>
            <p:cNvSpPr/>
            <p:nvPr/>
          </p:nvSpPr>
          <p:spPr>
            <a:xfrm>
              <a:off x="666931" y="6168409"/>
              <a:ext cx="11633743" cy="1"/>
            </a:xfrm>
            <a:prstGeom prst="line">
              <a:avLst/>
            </a:prstGeom>
            <a:ln w="114300">
              <a:solidFill>
                <a:srgbClr val="243A48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>
                <a:defRPr sz="3200"/>
              </a:pPr>
              <a:endParaRPr sz="1600"/>
            </a:p>
          </p:txBody>
        </p:sp>
        <p:sp>
          <p:nvSpPr>
            <p:cNvPr id="491" name="Shape 491"/>
            <p:cNvSpPr/>
            <p:nvPr/>
          </p:nvSpPr>
          <p:spPr>
            <a:xfrm>
              <a:off x="691362" y="504596"/>
              <a:ext cx="28576" cy="5687694"/>
            </a:xfrm>
            <a:prstGeom prst="line">
              <a:avLst/>
            </a:prstGeom>
            <a:ln w="114300">
              <a:solidFill>
                <a:srgbClr val="243A48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>
                <a:defRPr sz="3200"/>
              </a:pPr>
              <a:endParaRPr sz="1600"/>
            </a:p>
          </p:txBody>
        </p:sp>
      </p:grpSp>
      <p:sp>
        <p:nvSpPr>
          <p:cNvPr id="492" name="Shape 492"/>
          <p:cNvSpPr/>
          <p:nvPr/>
        </p:nvSpPr>
        <p:spPr>
          <a:xfrm>
            <a:off x="608923" y="345847"/>
            <a:ext cx="171451" cy="171451"/>
          </a:xfrm>
          <a:prstGeom prst="rect">
            <a:avLst/>
          </a:prstGeom>
          <a:solidFill>
            <a:srgbClr val="FFFFFF"/>
          </a:solidFill>
          <a:ln w="50800">
            <a:solidFill>
              <a:srgbClr val="243A48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494" name="Shape 494"/>
          <p:cNvSpPr/>
          <p:nvPr/>
        </p:nvSpPr>
        <p:spPr>
          <a:xfrm>
            <a:off x="622190" y="2736432"/>
            <a:ext cx="171451" cy="171451"/>
          </a:xfrm>
          <a:prstGeom prst="rect">
            <a:avLst/>
          </a:prstGeom>
          <a:solidFill>
            <a:srgbClr val="FFFFFF"/>
          </a:solidFill>
          <a:ln w="50800">
            <a:solidFill>
              <a:srgbClr val="243A48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497" name="Shape 497"/>
          <p:cNvSpPr/>
          <p:nvPr/>
        </p:nvSpPr>
        <p:spPr>
          <a:xfrm>
            <a:off x="603679" y="248898"/>
            <a:ext cx="10244858" cy="5258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algn="l" defTabSz="457200">
              <a:lnSpc>
                <a:spcPct val="90000"/>
              </a:lnSpc>
              <a:spcBef>
                <a:spcPts val="600"/>
              </a:spcBef>
              <a:buClr>
                <a:srgbClr val="65A1C1"/>
              </a:buClr>
              <a:buFont typeface="Lucida Grande"/>
              <a:defRPr sz="5300">
                <a:solidFill>
                  <a:srgbClr val="53585F"/>
                </a:solidFill>
                <a:latin typeface="Futura (Light)"/>
                <a:ea typeface="Futura (Light)"/>
                <a:cs typeface="Futura (Light)"/>
                <a:sym typeface="Futura (Light)"/>
              </a:defRPr>
            </a:lvl1pPr>
          </a:lstStyle>
          <a:p>
            <a:pPr marL="457200"/>
            <a:r>
              <a:rPr lang="en-US" sz="1600" b="1" i="1">
                <a:latin typeface="Century Gothic" charset="0"/>
                <a:ea typeface="Century Gothic" charset="0"/>
                <a:cs typeface="Century Gothic" charset="0"/>
              </a:rPr>
              <a:t>World Agricultural Supply and Demand Estimates (WASDE)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Published between the 9</a:t>
            </a:r>
            <a:r>
              <a:rPr lang="en-US" sz="1400" baseline="30000">
                <a:latin typeface="Century Gothic" charset="0"/>
                <a:ea typeface="Century Gothic" charset="0"/>
                <a:cs typeface="Century Gothic" charset="0"/>
              </a:rPr>
              <a:t>th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 and 12</a:t>
            </a:r>
            <a:r>
              <a:rPr lang="en-US" sz="1400" baseline="30000">
                <a:latin typeface="Century Gothic" charset="0"/>
                <a:ea typeface="Century Gothic" charset="0"/>
                <a:cs typeface="Century Gothic" charset="0"/>
              </a:rPr>
              <a:t>th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 day of month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USDA supply and demand estimates for all commodities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  <a:hlinkClick r:id="rId3"/>
              </a:rPr>
              <a:t>https://www.usda.gov/oce/commodity/wasde/</a:t>
            </a:r>
            <a:endParaRPr lang="en-US" sz="1400">
              <a:latin typeface="Century Gothic" charset="0"/>
              <a:ea typeface="Century Gothic" charset="0"/>
              <a:cs typeface="Century Gothic" charset="0"/>
            </a:endParaRPr>
          </a:p>
          <a:p>
            <a:pPr marL="457200"/>
            <a:r>
              <a:rPr lang="en-US" sz="1600" b="1" i="1">
                <a:latin typeface="Century Gothic" charset="0"/>
                <a:ea typeface="Century Gothic" charset="0"/>
                <a:cs typeface="Century Gothic" charset="0"/>
              </a:rPr>
              <a:t>Fats and Oils: Oilseed Crushings, Production, Consumption and Stocks</a:t>
            </a:r>
          </a:p>
          <a:p>
            <a:pPr marL="457200"/>
            <a:r>
              <a:rPr lang="en-US" sz="1400" b="1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Published first business day of month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NASS monthly US crushing data for oilseeds, meal and oil production and stocks. Oil refining and 	consumption. Regional crush, soybean meal and oil production and stocks. 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  <a:hlinkClick r:id="rId4"/>
              </a:rPr>
              <a:t>http://usda.mannlib.cornell.edu/MannUsda/viewDocumentInfo.do?documentID=1902</a:t>
            </a:r>
            <a:endParaRPr lang="en-US" sz="1400">
              <a:latin typeface="Century Gothic" charset="0"/>
              <a:ea typeface="Century Gothic" charset="0"/>
              <a:cs typeface="Century Gothic" charset="0"/>
            </a:endParaRPr>
          </a:p>
          <a:p>
            <a:pPr marL="457200"/>
            <a:r>
              <a:rPr lang="en-US" sz="1600" b="1" i="1">
                <a:latin typeface="Century Gothic" charset="0"/>
                <a:ea typeface="Century Gothic" charset="0"/>
                <a:cs typeface="Century Gothic" charset="0"/>
              </a:rPr>
              <a:t>Grain Crushings and Co-Productions Production</a:t>
            </a:r>
            <a:endParaRPr lang="en-US" sz="1600">
              <a:latin typeface="Century Gothic" charset="0"/>
              <a:ea typeface="Century Gothic" charset="0"/>
              <a:cs typeface="Century Gothic" charset="0"/>
            </a:endParaRPr>
          </a:p>
          <a:p>
            <a:pPr marL="457200"/>
            <a:r>
              <a:rPr lang="en-US" sz="1400" b="1" i="1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Published first business day of month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NASS monthly production data for corn oil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  <a:hlinkClick r:id="rId5"/>
              </a:rPr>
              <a:t>http://usda.mannlib.cornell.edu/MannUsda/viewDocumentInfo.do?documentID=1899</a:t>
            </a:r>
            <a:endParaRPr lang="en-US" sz="1400">
              <a:latin typeface="Century Gothic" charset="0"/>
              <a:ea typeface="Century Gothic" charset="0"/>
              <a:cs typeface="Century Gothic" charset="0"/>
            </a:endParaRPr>
          </a:p>
          <a:p>
            <a:pPr marL="457200"/>
            <a:r>
              <a:rPr lang="en-US" sz="1600" b="1" i="1">
                <a:latin typeface="Century Gothic" charset="0"/>
                <a:ea typeface="Century Gothic" charset="0"/>
                <a:cs typeface="Century Gothic" charset="0"/>
              </a:rPr>
              <a:t>North American Oilseed Processors Association Crush Report (NOPA)</a:t>
            </a:r>
          </a:p>
          <a:p>
            <a:pPr marL="457200"/>
            <a:r>
              <a:rPr lang="en-US" sz="1400" b="1" i="1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Published on the 15</a:t>
            </a:r>
            <a:r>
              <a:rPr lang="en-US" sz="1400" baseline="30000">
                <a:latin typeface="Century Gothic" charset="0"/>
                <a:ea typeface="Century Gothic" charset="0"/>
                <a:cs typeface="Century Gothic" charset="0"/>
              </a:rPr>
              <a:t>th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 day of the month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Monthly soybean crush, soybean meal production, yield and exports, 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soybean oil production, yield and month-ending stocks. Monthly crush by region.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Reuters</a:t>
            </a:r>
          </a:p>
          <a:p>
            <a:pPr marL="457200"/>
            <a:endParaRPr lang="en-US" sz="2150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99" name="Shape 499"/>
          <p:cNvSpPr/>
          <p:nvPr/>
        </p:nvSpPr>
        <p:spPr>
          <a:xfrm>
            <a:off x="603679" y="1415801"/>
            <a:ext cx="171451" cy="171451"/>
          </a:xfrm>
          <a:prstGeom prst="rect">
            <a:avLst/>
          </a:prstGeom>
          <a:solidFill>
            <a:srgbClr val="FFFFFF"/>
          </a:solidFill>
          <a:ln w="50800">
            <a:solidFill>
              <a:srgbClr val="243A48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pic>
        <p:nvPicPr>
          <p:cNvPr id="17" name="pasted-imag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50362" y="6298701"/>
            <a:ext cx="1353784" cy="394571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494"/>
          <p:cNvSpPr/>
          <p:nvPr/>
        </p:nvSpPr>
        <p:spPr>
          <a:xfrm>
            <a:off x="622190" y="3806386"/>
            <a:ext cx="171451" cy="171451"/>
          </a:xfrm>
          <a:prstGeom prst="rect">
            <a:avLst/>
          </a:prstGeom>
          <a:solidFill>
            <a:srgbClr val="FFFFFF"/>
          </a:solidFill>
          <a:ln w="50800">
            <a:solidFill>
              <a:srgbClr val="243A48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599349534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89" name="Shape 489"/>
          <p:cNvSpPr>
            <a:spLocks noGrp="1"/>
          </p:cNvSpPr>
          <p:nvPr>
            <p:ph type="title" idx="4294967295"/>
          </p:nvPr>
        </p:nvSpPr>
        <p:spPr>
          <a:xfrm>
            <a:off x="835928" y="5216306"/>
            <a:ext cx="12057112" cy="912873"/>
          </a:xfrm>
          <a:prstGeom prst="rect">
            <a:avLst/>
          </a:prstGeom>
        </p:spPr>
        <p:txBody>
          <a:bodyPr vert="horz" lIns="22860" tIns="22860" rIns="22860" bIns="22860" rtlCol="0" anchor="ctr">
            <a:noAutofit/>
          </a:bodyPr>
          <a:lstStyle>
            <a:lvl1pPr algn="r" defTabSz="425195">
              <a:defRPr sz="9300">
                <a:solidFill>
                  <a:srgbClr val="253A49"/>
                </a:solidFill>
                <a:latin typeface="AXIS"/>
                <a:ea typeface="AXIS"/>
                <a:cs typeface="AXIS"/>
                <a:sym typeface="AXIS"/>
              </a:defRPr>
            </a:lvl1pPr>
          </a:lstStyle>
          <a:p>
            <a:pPr algn="l"/>
            <a:r>
              <a:rPr lang="en-US" sz="8300">
                <a:solidFill>
                  <a:schemeClr val="tx1">
                    <a:lumMod val="50000"/>
                    <a:lumOff val="50000"/>
                  </a:schemeClr>
                </a:solidFill>
                <a:latin typeface="Franklin Gothic Demi Cond" charset="0"/>
                <a:ea typeface="Franklin Gothic Demi Cond" charset="0"/>
                <a:cs typeface="Franklin Gothic Demi Cond" charset="0"/>
              </a:rPr>
              <a:t>REPORTS</a:t>
            </a:r>
            <a:endParaRPr sz="8300">
              <a:solidFill>
                <a:schemeClr val="tx1">
                  <a:lumMod val="50000"/>
                  <a:lumOff val="50000"/>
                </a:schemeClr>
              </a:solidFill>
              <a:latin typeface="Franklin Gothic Demi Cond" charset="0"/>
              <a:ea typeface="Franklin Gothic Demi Cond" charset="0"/>
              <a:cs typeface="Franklin Gothic Demi Cond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50917C-4338-FC44-9925-7935462157FB}"/>
              </a:ext>
            </a:extLst>
          </p:cNvPr>
          <p:cNvGrpSpPr/>
          <p:nvPr/>
        </p:nvGrpSpPr>
        <p:grpSpPr>
          <a:xfrm>
            <a:off x="666931" y="504596"/>
            <a:ext cx="11633743" cy="5687694"/>
            <a:chOff x="666931" y="504596"/>
            <a:chExt cx="11633743" cy="5687694"/>
          </a:xfrm>
        </p:grpSpPr>
        <p:sp>
          <p:nvSpPr>
            <p:cNvPr id="490" name="Shape 490"/>
            <p:cNvSpPr/>
            <p:nvPr/>
          </p:nvSpPr>
          <p:spPr>
            <a:xfrm>
              <a:off x="666931" y="6168409"/>
              <a:ext cx="11633743" cy="1"/>
            </a:xfrm>
            <a:prstGeom prst="line">
              <a:avLst/>
            </a:prstGeom>
            <a:ln w="114300">
              <a:solidFill>
                <a:srgbClr val="243A48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>
                <a:defRPr sz="3200"/>
              </a:pPr>
              <a:endParaRPr sz="1600"/>
            </a:p>
          </p:txBody>
        </p:sp>
        <p:sp>
          <p:nvSpPr>
            <p:cNvPr id="491" name="Shape 491"/>
            <p:cNvSpPr/>
            <p:nvPr/>
          </p:nvSpPr>
          <p:spPr>
            <a:xfrm>
              <a:off x="691362" y="504596"/>
              <a:ext cx="28576" cy="5687694"/>
            </a:xfrm>
            <a:prstGeom prst="line">
              <a:avLst/>
            </a:prstGeom>
            <a:ln w="114300">
              <a:solidFill>
                <a:srgbClr val="243A48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>
                <a:defRPr sz="3200"/>
              </a:pPr>
              <a:endParaRPr sz="1600"/>
            </a:p>
          </p:txBody>
        </p:sp>
      </p:grpSp>
      <p:sp>
        <p:nvSpPr>
          <p:cNvPr id="492" name="Shape 492"/>
          <p:cNvSpPr/>
          <p:nvPr/>
        </p:nvSpPr>
        <p:spPr>
          <a:xfrm>
            <a:off x="608923" y="345847"/>
            <a:ext cx="171451" cy="171451"/>
          </a:xfrm>
          <a:prstGeom prst="rect">
            <a:avLst/>
          </a:prstGeom>
          <a:solidFill>
            <a:srgbClr val="FFFFFF"/>
          </a:solidFill>
          <a:ln w="50800">
            <a:solidFill>
              <a:srgbClr val="243A48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494" name="Shape 494"/>
          <p:cNvSpPr/>
          <p:nvPr/>
        </p:nvSpPr>
        <p:spPr>
          <a:xfrm>
            <a:off x="622190" y="2736432"/>
            <a:ext cx="171451" cy="171451"/>
          </a:xfrm>
          <a:prstGeom prst="rect">
            <a:avLst/>
          </a:prstGeom>
          <a:solidFill>
            <a:srgbClr val="FFFFFF"/>
          </a:solidFill>
          <a:ln w="50800">
            <a:solidFill>
              <a:srgbClr val="243A48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497" name="Shape 497"/>
          <p:cNvSpPr/>
          <p:nvPr/>
        </p:nvSpPr>
        <p:spPr>
          <a:xfrm>
            <a:off x="608923" y="277518"/>
            <a:ext cx="10244858" cy="4938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algn="l" defTabSz="457200">
              <a:lnSpc>
                <a:spcPct val="90000"/>
              </a:lnSpc>
              <a:spcBef>
                <a:spcPts val="600"/>
              </a:spcBef>
              <a:buClr>
                <a:srgbClr val="65A1C1"/>
              </a:buClr>
              <a:buFont typeface="Lucida Grande"/>
              <a:defRPr sz="5300">
                <a:solidFill>
                  <a:srgbClr val="53585F"/>
                </a:solidFill>
                <a:latin typeface="Futura (Light)"/>
                <a:ea typeface="Futura (Light)"/>
                <a:cs typeface="Futura (Light)"/>
                <a:sym typeface="Futura (Light)"/>
              </a:defRPr>
            </a:lvl1pPr>
          </a:lstStyle>
          <a:p>
            <a:pPr marL="457200"/>
            <a:r>
              <a:rPr lang="en-US" sz="1600" b="1" i="1">
                <a:latin typeface="Century Gothic" charset="0"/>
                <a:ea typeface="Century Gothic" charset="0"/>
                <a:cs typeface="Century Gothic" charset="0"/>
              </a:rPr>
              <a:t>Monthly Biodiesel Production Report</a:t>
            </a:r>
          </a:p>
          <a:p>
            <a:pPr marL="457200"/>
            <a:r>
              <a:rPr lang="en-US" sz="1400" b="1" i="1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Published the last business day of the month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EIA Biodiesel production, sales and stocks. Feedstock usage and breakout. 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Production capacity.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  <a:hlinkClick r:id="rId3"/>
              </a:rPr>
              <a:t>https://www.eia.gov/biofuels/biodiesel/production/</a:t>
            </a:r>
            <a:endParaRPr lang="en-US" sz="1400">
              <a:latin typeface="Century Gothic" charset="0"/>
              <a:ea typeface="Century Gothic" charset="0"/>
              <a:cs typeface="Century Gothic" charset="0"/>
            </a:endParaRPr>
          </a:p>
          <a:p>
            <a:pPr marL="457200"/>
            <a:r>
              <a:rPr lang="en-US" sz="1600" b="1" i="1">
                <a:latin typeface="Century Gothic" charset="0"/>
                <a:ea typeface="Century Gothic" charset="0"/>
                <a:cs typeface="Century Gothic" charset="0"/>
              </a:rPr>
              <a:t>Canadian Oilseed Processor Oilseed Crushing Statistics</a:t>
            </a:r>
          </a:p>
          <a:p>
            <a:pPr marL="457200"/>
            <a:r>
              <a:rPr lang="en-US" sz="1400" b="1" i="1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Published semi-randomly near the end of the month 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Monthly crush, oil production and meal production for soybeans and canola.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  <a:hlinkClick r:id="rId4"/>
              </a:rPr>
              <a:t>https://copacanada.com/crush-oil-meal-production/</a:t>
            </a:r>
            <a:endParaRPr lang="en-US" sz="1400">
              <a:latin typeface="Century Gothic" charset="0"/>
              <a:ea typeface="Century Gothic" charset="0"/>
              <a:cs typeface="Century Gothic" charset="0"/>
            </a:endParaRPr>
          </a:p>
          <a:p>
            <a:pPr marL="457200"/>
            <a:r>
              <a:rPr lang="en-US" sz="1600" b="1" i="1">
                <a:latin typeface="Century Gothic" charset="0"/>
                <a:ea typeface="Century Gothic" charset="0"/>
                <a:cs typeface="Century Gothic" charset="0"/>
              </a:rPr>
              <a:t>Census Export Report</a:t>
            </a:r>
          </a:p>
          <a:p>
            <a:pPr marL="457200"/>
            <a:r>
              <a:rPr lang="en-US" sz="1200" b="1" i="1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Published on set schedule within the first 10 days of the month</a:t>
            </a:r>
          </a:p>
          <a:p>
            <a:pPr marL="457200"/>
            <a:r>
              <a:rPr lang="en-US" sz="1200" b="1" i="1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US shipments of all commodities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Global Trade Tracker - 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  <a:hlinkClick r:id="rId5"/>
              </a:rPr>
              <a:t>https://www.globaltradetracker.com/gtt/secure/gttAnalytics.action</a:t>
            </a:r>
            <a:endParaRPr lang="en-US" sz="1400">
              <a:latin typeface="Century Gothic" charset="0"/>
              <a:ea typeface="Century Gothic" charset="0"/>
              <a:cs typeface="Century Gothic" charset="0"/>
            </a:endParaRPr>
          </a:p>
          <a:p>
            <a:pPr marL="457200"/>
            <a:r>
              <a:rPr lang="en-US" sz="1600" b="1" i="1">
                <a:latin typeface="Century Gothic" charset="0"/>
                <a:ea typeface="Century Gothic" charset="0"/>
                <a:cs typeface="Century Gothic" charset="0"/>
              </a:rPr>
              <a:t>US Export Sales</a:t>
            </a:r>
          </a:p>
          <a:p>
            <a:pPr marL="457200"/>
            <a:r>
              <a:rPr lang="en-US" sz="1800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Published Thursday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Outstanding sales for previous, current and upcoming marketing years. Accumulated exports for previous 	and current marketing year. Cancellations of outstanding sales for current and upcoming marketing years.</a:t>
            </a:r>
          </a:p>
          <a:p>
            <a:pPr marL="457200"/>
            <a:r>
              <a:rPr lang="en-US" sz="1400">
                <a:latin typeface="Century Gothic" charset="0"/>
                <a:ea typeface="Century Gothic" charset="0"/>
                <a:cs typeface="Century Gothic" charset="0"/>
              </a:rPr>
              <a:t>	</a:t>
            </a:r>
            <a:r>
              <a:rPr lang="en-US" sz="1400">
                <a:latin typeface="Century Gothic" charset="0"/>
                <a:ea typeface="Century Gothic" charset="0"/>
                <a:cs typeface="Century Gothic" charset="0"/>
                <a:hlinkClick r:id="rId6"/>
              </a:rPr>
              <a:t>https://apps.fas.usda.gov/export-sales/esrd1.html</a:t>
            </a:r>
            <a:endParaRPr lang="en-US" sz="1400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499" name="Shape 499"/>
          <p:cNvSpPr/>
          <p:nvPr/>
        </p:nvSpPr>
        <p:spPr>
          <a:xfrm>
            <a:off x="608923" y="1694197"/>
            <a:ext cx="171451" cy="171451"/>
          </a:xfrm>
          <a:prstGeom prst="rect">
            <a:avLst/>
          </a:prstGeom>
          <a:solidFill>
            <a:srgbClr val="FFFFFF"/>
          </a:solidFill>
          <a:ln w="50800">
            <a:solidFill>
              <a:srgbClr val="243A48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  <p:pic>
        <p:nvPicPr>
          <p:cNvPr id="17" name="pasted-imag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50362" y="6298701"/>
            <a:ext cx="1353784" cy="394571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Shape 494"/>
          <p:cNvSpPr/>
          <p:nvPr/>
        </p:nvSpPr>
        <p:spPr>
          <a:xfrm>
            <a:off x="619924" y="3864392"/>
            <a:ext cx="171451" cy="171451"/>
          </a:xfrm>
          <a:prstGeom prst="rect">
            <a:avLst/>
          </a:prstGeom>
          <a:solidFill>
            <a:srgbClr val="FFFFFF"/>
          </a:solidFill>
          <a:ln w="50800">
            <a:solidFill>
              <a:srgbClr val="243A48"/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>
                <a:solidFill>
                  <a:srgbClr val="FFFFFF"/>
                </a:solidFill>
              </a:defRPr>
            </a:pP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477957537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6" name="pasted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0362" y="6298701"/>
            <a:ext cx="1353784" cy="394571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B9F9E41-807B-D44F-A407-C80ADCB1D85D}"/>
              </a:ext>
            </a:extLst>
          </p:cNvPr>
          <p:cNvSpPr txBox="1"/>
          <p:nvPr/>
        </p:nvSpPr>
        <p:spPr>
          <a:xfrm>
            <a:off x="99424" y="1335277"/>
            <a:ext cx="11658779" cy="444688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latin typeface="Century Gothic" panose="020b0502020202020204" pitchFamily="34" charset="0"/>
              </a:rPr>
              <a:t>Balance Sheets 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Annual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Monthly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Average Daily?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Soybean Oil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World, Major Producers, and Rest of the World, US, Brazil, Argentina, India, EU-28, China, South Korea, Canada, Mexico, Egypt?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Canola/Rapeseed Oil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World, Major Producers and Rest of the World, Canada, US, Ukraine, Russia?, EU-28, India, Mexico, China?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Palm Oil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World, Major Producers and Rest of the World, Malaysia, Indonesia, India, China, Japan, EU-28, Central American Countries?, US, Middle Eastern Countries?</a:t>
            </a:r>
          </a:p>
          <a:p>
            <a:r>
              <a:rPr lang="en-US" sz="2400">
                <a:latin typeface="Century Gothic" panose="020b0502020202020204" pitchFamily="34" charset="0"/>
              </a:rPr>
              <a:t>Exports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Weekly US sales, shipments and commitments by country – table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Trade Matrix 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Annual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Quarterly?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Major Exporting Countries table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Competitive values in major importing countries</a:t>
            </a:r>
          </a:p>
          <a:p>
            <a:pPr lvl="1"/>
            <a:endParaRPr lang="en-US" sz="200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2400">
              <a:latin typeface="Century Gothic" panose="020b0502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D978F0-91C8-444D-8D67-9A997C3DA000}"/>
              </a:ext>
            </a:extLst>
          </p:cNvPr>
          <p:cNvGrpSpPr/>
          <p:nvPr/>
        </p:nvGrpSpPr>
        <p:grpSpPr>
          <a:xfrm>
            <a:off x="261300" y="357968"/>
            <a:ext cx="11312724" cy="717865"/>
            <a:chOff x="261300" y="357968"/>
            <a:chExt cx="11312724" cy="717865"/>
          </a:xfrm>
        </p:grpSpPr>
        <p:sp>
          <p:nvSpPr>
            <p:cNvPr id="17" name="Shape 405">
              <a:extLst>
                <a:ext uri="{FF2B5EF4-FFF2-40B4-BE49-F238E27FC236}">
                  <a16:creationId xmlns:a16="http://schemas.microsoft.com/office/drawing/2014/main" id="{A688C918-A6FE-D445-A875-EC99569173CF}"/>
                </a:ext>
              </a:extLst>
            </p:cNvPr>
            <p:cNvSpPr/>
            <p:nvPr/>
          </p:nvSpPr>
          <p:spPr>
            <a:xfrm>
              <a:off x="261301" y="1075832"/>
              <a:ext cx="10856601" cy="1"/>
            </a:xfrm>
            <a:prstGeom prst="line">
              <a:avLst/>
            </a:prstGeom>
            <a:ln w="38100">
              <a:solidFill>
                <a:srgbClr val="F3E437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>
                <a:defRPr sz="3200"/>
              </a:pPr>
              <a:endParaRPr sz="1600"/>
            </a:p>
          </p:txBody>
        </p:sp>
        <p:sp>
          <p:nvSpPr>
            <p:cNvPr id="19" name="Shape 407">
              <a:extLst>
                <a:ext uri="{FF2B5EF4-FFF2-40B4-BE49-F238E27FC236}">
                  <a16:creationId xmlns:a16="http://schemas.microsoft.com/office/drawing/2014/main" id="{237EF843-E8B7-A945-9F74-FF6A3AD42EE2}"/>
                </a:ext>
              </a:extLst>
            </p:cNvPr>
            <p:cNvSpPr/>
            <p:nvPr/>
          </p:nvSpPr>
          <p:spPr>
            <a:xfrm>
              <a:off x="261300" y="357968"/>
              <a:ext cx="11312724" cy="5715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2860" rIns="22860" anchor="ctr">
              <a:noAutofit/>
            </a:bodyPr>
            <a:lstStyle>
              <a:lvl1pPr algn="l" defTabSz="315468">
                <a:defRPr sz="6900">
                  <a:solidFill>
                    <a:srgbClr val="253A49"/>
                  </a:solidFill>
                  <a:latin typeface="AXIS"/>
                  <a:ea typeface="AXIS"/>
                  <a:cs typeface="AXIS"/>
                  <a:sym typeface="AXIS"/>
                </a:defRPr>
              </a:lvl1pPr>
            </a:lstStyle>
            <a:p>
              <a:pPr algn="ctr"/>
              <a:r>
                <a:rPr lang="en-US" sz="4800">
                  <a:latin typeface="Franklin Gothic Demi Cond" charset="0"/>
                  <a:ea typeface="Franklin Gothic Demi Cond" charset="0"/>
                  <a:cs typeface="Franklin Gothic Demi Cond" charset="0"/>
                </a:rPr>
                <a:t>DATA</a:t>
              </a:r>
              <a:endParaRPr sz="4800">
                <a:latin typeface="Franklin Gothic Demi Cond" charset="0"/>
                <a:ea typeface="Franklin Gothic Demi Cond" charset="0"/>
                <a:cs typeface="Franklin Gothic Demi Cond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7917342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6" name="pasted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0362" y="6298701"/>
            <a:ext cx="1353784" cy="394571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B9F9E41-807B-D44F-A407-C80ADCB1D85D}"/>
              </a:ext>
            </a:extLst>
          </p:cNvPr>
          <p:cNvSpPr txBox="1"/>
          <p:nvPr/>
        </p:nvSpPr>
        <p:spPr>
          <a:xfrm>
            <a:off x="99424" y="1335277"/>
            <a:ext cx="11658779" cy="44468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latin typeface="Century Gothic" panose="020b0502020202020204" pitchFamily="34" charset="0"/>
              </a:rPr>
              <a:t>Daily Usage Rates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Biodiesel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Non-biodiesel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Industry Breakout?</a:t>
            </a:r>
          </a:p>
          <a:p>
            <a:r>
              <a:rPr lang="en-US" sz="2400">
                <a:latin typeface="Century Gothic" panose="020b0502020202020204" pitchFamily="34" charset="0"/>
              </a:rPr>
              <a:t>Crushing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Monthly Crush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US soybean and canola</a:t>
            </a:r>
          </a:p>
          <a:p>
            <a:pPr lvl="3"/>
            <a:r>
              <a:rPr lang="en-US" sz="1400">
                <a:latin typeface="Century Gothic" panose="020b0502020202020204" pitchFamily="34" charset="0"/>
              </a:rPr>
              <a:t>NASS</a:t>
            </a:r>
          </a:p>
          <a:p>
            <a:pPr lvl="3"/>
            <a:r>
              <a:rPr lang="en-US" sz="1400">
                <a:latin typeface="Century Gothic" panose="020b0502020202020204" pitchFamily="34" charset="0"/>
              </a:rPr>
              <a:t>NOPA implied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Canadian soybean and canola</a:t>
            </a:r>
          </a:p>
          <a:p>
            <a:pPr lvl="3"/>
            <a:r>
              <a:rPr lang="en-US" sz="1400">
                <a:latin typeface="Century Gothic" panose="020b0502020202020204" pitchFamily="34" charset="0"/>
              </a:rPr>
              <a:t>COPA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China?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Crush Margin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Cash</a:t>
            </a:r>
          </a:p>
          <a:p>
            <a:pPr lvl="3"/>
            <a:r>
              <a:rPr lang="en-US" sz="1400">
                <a:latin typeface="Century Gothic" panose="020b0502020202020204" pitchFamily="34" charset="0"/>
              </a:rPr>
              <a:t>Central Illinois</a:t>
            </a:r>
          </a:p>
          <a:p>
            <a:pPr lvl="3"/>
            <a:r>
              <a:rPr lang="en-US" sz="1400">
                <a:latin typeface="Century Gothic" panose="020b0502020202020204" pitchFamily="34" charset="0"/>
              </a:rPr>
              <a:t>Other locations?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Futures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Oilshare</a:t>
            </a:r>
          </a:p>
          <a:p>
            <a:pPr lvl="1"/>
            <a:endParaRPr lang="en-US" sz="200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2400">
              <a:latin typeface="Century Gothic" panose="020b0502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D978F0-91C8-444D-8D67-9A997C3DA000}"/>
              </a:ext>
            </a:extLst>
          </p:cNvPr>
          <p:cNvGrpSpPr/>
          <p:nvPr/>
        </p:nvGrpSpPr>
        <p:grpSpPr>
          <a:xfrm>
            <a:off x="261300" y="357968"/>
            <a:ext cx="11312724" cy="717865"/>
            <a:chOff x="261300" y="357968"/>
            <a:chExt cx="11312724" cy="717865"/>
          </a:xfrm>
        </p:grpSpPr>
        <p:sp>
          <p:nvSpPr>
            <p:cNvPr id="17" name="Shape 405">
              <a:extLst>
                <a:ext uri="{FF2B5EF4-FFF2-40B4-BE49-F238E27FC236}">
                  <a16:creationId xmlns:a16="http://schemas.microsoft.com/office/drawing/2014/main" id="{A688C918-A6FE-D445-A875-EC99569173CF}"/>
                </a:ext>
              </a:extLst>
            </p:cNvPr>
            <p:cNvSpPr/>
            <p:nvPr/>
          </p:nvSpPr>
          <p:spPr>
            <a:xfrm>
              <a:off x="261301" y="1075832"/>
              <a:ext cx="10856601" cy="1"/>
            </a:xfrm>
            <a:prstGeom prst="line">
              <a:avLst/>
            </a:prstGeom>
            <a:ln w="38100">
              <a:solidFill>
                <a:srgbClr val="F3E437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>
                <a:defRPr sz="3200"/>
              </a:pPr>
              <a:endParaRPr sz="1600"/>
            </a:p>
          </p:txBody>
        </p:sp>
        <p:sp>
          <p:nvSpPr>
            <p:cNvPr id="19" name="Shape 407">
              <a:extLst>
                <a:ext uri="{FF2B5EF4-FFF2-40B4-BE49-F238E27FC236}">
                  <a16:creationId xmlns:a16="http://schemas.microsoft.com/office/drawing/2014/main" id="{237EF843-E8B7-A945-9F74-FF6A3AD42EE2}"/>
                </a:ext>
              </a:extLst>
            </p:cNvPr>
            <p:cNvSpPr/>
            <p:nvPr/>
          </p:nvSpPr>
          <p:spPr>
            <a:xfrm>
              <a:off x="261300" y="357968"/>
              <a:ext cx="11312724" cy="5715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2860" rIns="22860" anchor="ctr">
              <a:noAutofit/>
            </a:bodyPr>
            <a:lstStyle>
              <a:lvl1pPr algn="l" defTabSz="315468">
                <a:defRPr sz="6900">
                  <a:solidFill>
                    <a:srgbClr val="253A49"/>
                  </a:solidFill>
                  <a:latin typeface="AXIS"/>
                  <a:ea typeface="AXIS"/>
                  <a:cs typeface="AXIS"/>
                  <a:sym typeface="AXIS"/>
                </a:defRPr>
              </a:lvl1pPr>
            </a:lstStyle>
            <a:p>
              <a:pPr algn="ctr"/>
              <a:r>
                <a:rPr lang="en-US" sz="4800">
                  <a:latin typeface="Franklin Gothic Demi Cond" charset="0"/>
                  <a:ea typeface="Franklin Gothic Demi Cond" charset="0"/>
                  <a:cs typeface="Franklin Gothic Demi Cond" charset="0"/>
                </a:rPr>
                <a:t>DATA</a:t>
              </a:r>
              <a:endParaRPr sz="4800">
                <a:latin typeface="Franklin Gothic Demi Cond" charset="0"/>
                <a:ea typeface="Franklin Gothic Demi Cond" charset="0"/>
                <a:cs typeface="Franklin Gothic Demi Cond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7118524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6" name="pasted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0362" y="6298701"/>
            <a:ext cx="1353784" cy="394571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B9F9E41-807B-D44F-A407-C80ADCB1D85D}"/>
              </a:ext>
            </a:extLst>
          </p:cNvPr>
          <p:cNvSpPr txBox="1"/>
          <p:nvPr/>
        </p:nvSpPr>
        <p:spPr>
          <a:xfrm>
            <a:off x="99424" y="1335277"/>
            <a:ext cx="11658779" cy="44468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latin typeface="Century Gothic" panose="020b0502020202020204" pitchFamily="34" charset="0"/>
              </a:rPr>
              <a:t>Prices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Futures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Major Cash Markets – Basis?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US Competitiveness at Major Importing Markets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Energy Value of Feedstocks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Relative Profitability of Biodiesel Production by Feedstocks</a:t>
            </a:r>
          </a:p>
          <a:p>
            <a:pPr lvl="3"/>
            <a:r>
              <a:rPr lang="en-US" sz="1400">
                <a:latin typeface="Century Gothic" panose="020b0502020202020204" pitchFamily="34" charset="0"/>
              </a:rPr>
              <a:t>Based on cash prices at specific locations</a:t>
            </a:r>
          </a:p>
          <a:p>
            <a:pPr lvl="3"/>
            <a:r>
              <a:rPr lang="en-US" sz="1400">
                <a:latin typeface="Century Gothic" panose="020b0502020202020204" pitchFamily="34" charset="0"/>
              </a:rPr>
              <a:t>Same feedstocks using different processing methods?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Forecasts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Futures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Cash/Basis</a:t>
            </a:r>
          </a:p>
          <a:p>
            <a:pPr lvl="3"/>
            <a:r>
              <a:rPr lang="en-US" sz="1400">
                <a:latin typeface="Century Gothic" panose="020b0502020202020204" pitchFamily="34" charset="0"/>
              </a:rPr>
              <a:t>Interior </a:t>
            </a:r>
          </a:p>
          <a:p>
            <a:pPr lvl="3"/>
            <a:r>
              <a:rPr lang="en-US" sz="1400">
                <a:latin typeface="Century Gothic" panose="020b0502020202020204" pitchFamily="34" charset="0"/>
              </a:rPr>
              <a:t>Major Export and Import Markets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International Prices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Arbs Based on Shipping Rates</a:t>
            </a:r>
          </a:p>
          <a:p>
            <a:pPr marL="0" indent="0">
              <a:buNone/>
            </a:pPr>
            <a:endParaRPr lang="en-US" sz="2400">
              <a:latin typeface="Century Gothic" panose="020b0502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D978F0-91C8-444D-8D67-9A997C3DA000}"/>
              </a:ext>
            </a:extLst>
          </p:cNvPr>
          <p:cNvGrpSpPr/>
          <p:nvPr/>
        </p:nvGrpSpPr>
        <p:grpSpPr>
          <a:xfrm>
            <a:off x="261300" y="357968"/>
            <a:ext cx="11312724" cy="717865"/>
            <a:chOff x="261300" y="357968"/>
            <a:chExt cx="11312724" cy="717865"/>
          </a:xfrm>
        </p:grpSpPr>
        <p:sp>
          <p:nvSpPr>
            <p:cNvPr id="17" name="Shape 405">
              <a:extLst>
                <a:ext uri="{FF2B5EF4-FFF2-40B4-BE49-F238E27FC236}">
                  <a16:creationId xmlns:a16="http://schemas.microsoft.com/office/drawing/2014/main" id="{A688C918-A6FE-D445-A875-EC99569173CF}"/>
                </a:ext>
              </a:extLst>
            </p:cNvPr>
            <p:cNvSpPr/>
            <p:nvPr/>
          </p:nvSpPr>
          <p:spPr>
            <a:xfrm>
              <a:off x="261301" y="1075832"/>
              <a:ext cx="10856601" cy="1"/>
            </a:xfrm>
            <a:prstGeom prst="line">
              <a:avLst/>
            </a:prstGeom>
            <a:ln w="38100">
              <a:solidFill>
                <a:srgbClr val="F3E437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>
                <a:defRPr sz="3200"/>
              </a:pPr>
              <a:endParaRPr sz="1600"/>
            </a:p>
          </p:txBody>
        </p:sp>
        <p:sp>
          <p:nvSpPr>
            <p:cNvPr id="19" name="Shape 407">
              <a:extLst>
                <a:ext uri="{FF2B5EF4-FFF2-40B4-BE49-F238E27FC236}">
                  <a16:creationId xmlns:a16="http://schemas.microsoft.com/office/drawing/2014/main" id="{237EF843-E8B7-A945-9F74-FF6A3AD42EE2}"/>
                </a:ext>
              </a:extLst>
            </p:cNvPr>
            <p:cNvSpPr/>
            <p:nvPr/>
          </p:nvSpPr>
          <p:spPr>
            <a:xfrm>
              <a:off x="261300" y="357968"/>
              <a:ext cx="11312724" cy="5715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2860" rIns="22860" anchor="ctr">
              <a:noAutofit/>
            </a:bodyPr>
            <a:lstStyle>
              <a:lvl1pPr algn="l" defTabSz="315468">
                <a:defRPr sz="6900">
                  <a:solidFill>
                    <a:srgbClr val="253A49"/>
                  </a:solidFill>
                  <a:latin typeface="AXIS"/>
                  <a:ea typeface="AXIS"/>
                  <a:cs typeface="AXIS"/>
                  <a:sym typeface="AXIS"/>
                </a:defRPr>
              </a:lvl1pPr>
            </a:lstStyle>
            <a:p>
              <a:pPr algn="ctr"/>
              <a:r>
                <a:rPr lang="en-US" sz="4800">
                  <a:latin typeface="Franklin Gothic Demi Cond" charset="0"/>
                  <a:ea typeface="Franklin Gothic Demi Cond" charset="0"/>
                  <a:cs typeface="Franklin Gothic Demi Cond" charset="0"/>
                </a:rPr>
                <a:t>DATA</a:t>
              </a:r>
              <a:endParaRPr sz="4800">
                <a:latin typeface="Franklin Gothic Demi Cond" charset="0"/>
                <a:ea typeface="Franklin Gothic Demi Cond" charset="0"/>
                <a:cs typeface="Franklin Gothic Demi Cond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8370524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6" name="pasted-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0362" y="6298701"/>
            <a:ext cx="1353784" cy="394571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B9F9E41-807B-D44F-A407-C80ADCB1D85D}"/>
              </a:ext>
            </a:extLst>
          </p:cNvPr>
          <p:cNvSpPr txBox="1"/>
          <p:nvPr/>
        </p:nvSpPr>
        <p:spPr>
          <a:xfrm>
            <a:off x="99424" y="1335277"/>
            <a:ext cx="11658779" cy="44468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latin typeface="Century Gothic" panose="020b0502020202020204" pitchFamily="34" charset="0"/>
              </a:rPr>
              <a:t>Corn Oil?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US Balance Sheet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NASS Production Data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Consumption</a:t>
            </a:r>
          </a:p>
          <a:p>
            <a:pPr lvl="2"/>
            <a:r>
              <a:rPr lang="en-US" sz="1400">
                <a:latin typeface="Century Gothic" panose="020b0502020202020204" pitchFamily="34" charset="0"/>
              </a:rPr>
              <a:t>Biodiesel Production</a:t>
            </a:r>
          </a:p>
          <a:p>
            <a:pPr lvl="2"/>
            <a:r>
              <a:rPr lang="en-US" sz="1400">
                <a:latin typeface="Century Gothic" panose="020b0502020202020204" pitchFamily="34" charset="0"/>
              </a:rPr>
              <a:t>Non-biodiesel Breakout</a:t>
            </a:r>
          </a:p>
          <a:p>
            <a:pPr lvl="2"/>
            <a:r>
              <a:rPr lang="en-US" sz="1400">
                <a:latin typeface="Century Gothic" panose="020b0502020202020204" pitchFamily="34" charset="0"/>
              </a:rPr>
              <a:t>US Exports/Trade Matrix?</a:t>
            </a:r>
          </a:p>
          <a:p>
            <a:r>
              <a:rPr lang="en-US" sz="2400">
                <a:latin typeface="Century Gothic" panose="020b0502020202020204" pitchFamily="34" charset="0"/>
              </a:rPr>
              <a:t>Miscellaneous?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Weather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Outside Factors Impacting Supply or Demand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Economy</a:t>
            </a:r>
          </a:p>
          <a:p>
            <a:pPr lvl="2"/>
            <a:r>
              <a:rPr lang="en-US" sz="1600">
                <a:latin typeface="Century Gothic" panose="020b0502020202020204" pitchFamily="34" charset="0"/>
              </a:rPr>
              <a:t>Diesel Demand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Ethanol Data</a:t>
            </a:r>
          </a:p>
          <a:p>
            <a:pPr lvl="1"/>
            <a:r>
              <a:rPr lang="en-US" sz="2000">
                <a:latin typeface="Century Gothic" panose="020b0502020202020204" pitchFamily="34" charset="0"/>
              </a:rPr>
              <a:t>Oilseed Data (especially soybean)</a:t>
            </a:r>
          </a:p>
          <a:p>
            <a:pPr lvl="1"/>
            <a:endParaRPr lang="en-US" sz="2000">
              <a:latin typeface="Century Gothic" panose="020b0502020202020204" pitchFamily="34" charset="0"/>
            </a:endParaRPr>
          </a:p>
          <a:p>
            <a:pPr lvl="1"/>
            <a:endParaRPr lang="en-US" sz="160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2400">
              <a:latin typeface="Century Gothic" panose="020b0502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D978F0-91C8-444D-8D67-9A997C3DA000}"/>
              </a:ext>
            </a:extLst>
          </p:cNvPr>
          <p:cNvGrpSpPr/>
          <p:nvPr/>
        </p:nvGrpSpPr>
        <p:grpSpPr>
          <a:xfrm>
            <a:off x="261300" y="357968"/>
            <a:ext cx="11312724" cy="717865"/>
            <a:chOff x="261300" y="357968"/>
            <a:chExt cx="11312724" cy="717865"/>
          </a:xfrm>
        </p:grpSpPr>
        <p:sp>
          <p:nvSpPr>
            <p:cNvPr id="17" name="Shape 405">
              <a:extLst>
                <a:ext uri="{FF2B5EF4-FFF2-40B4-BE49-F238E27FC236}">
                  <a16:creationId xmlns:a16="http://schemas.microsoft.com/office/drawing/2014/main" id="{A688C918-A6FE-D445-A875-EC99569173CF}"/>
                </a:ext>
              </a:extLst>
            </p:cNvPr>
            <p:cNvSpPr/>
            <p:nvPr/>
          </p:nvSpPr>
          <p:spPr>
            <a:xfrm>
              <a:off x="261301" y="1075832"/>
              <a:ext cx="10856601" cy="1"/>
            </a:xfrm>
            <a:prstGeom prst="line">
              <a:avLst/>
            </a:prstGeom>
            <a:ln w="38100">
              <a:solidFill>
                <a:srgbClr val="F3E437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>
                <a:defRPr sz="3200"/>
              </a:pPr>
              <a:endParaRPr sz="1600"/>
            </a:p>
          </p:txBody>
        </p:sp>
        <p:sp>
          <p:nvSpPr>
            <p:cNvPr id="19" name="Shape 407">
              <a:extLst>
                <a:ext uri="{FF2B5EF4-FFF2-40B4-BE49-F238E27FC236}">
                  <a16:creationId xmlns:a16="http://schemas.microsoft.com/office/drawing/2014/main" id="{237EF843-E8B7-A945-9F74-FF6A3AD42EE2}"/>
                </a:ext>
              </a:extLst>
            </p:cNvPr>
            <p:cNvSpPr/>
            <p:nvPr/>
          </p:nvSpPr>
          <p:spPr>
            <a:xfrm>
              <a:off x="261300" y="357968"/>
              <a:ext cx="11312724" cy="5715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22860" rIns="22860" anchor="ctr">
              <a:noAutofit/>
            </a:bodyPr>
            <a:lstStyle>
              <a:lvl1pPr algn="l" defTabSz="315468">
                <a:defRPr sz="6900">
                  <a:solidFill>
                    <a:srgbClr val="253A49"/>
                  </a:solidFill>
                  <a:latin typeface="AXIS"/>
                  <a:ea typeface="AXIS"/>
                  <a:cs typeface="AXIS"/>
                  <a:sym typeface="AXIS"/>
                </a:defRPr>
              </a:lvl1pPr>
            </a:lstStyle>
            <a:p>
              <a:pPr algn="ctr"/>
              <a:r>
                <a:rPr lang="en-US" sz="4800">
                  <a:latin typeface="Franklin Gothic Demi Cond" charset="0"/>
                  <a:ea typeface="Franklin Gothic Demi Cond" charset="0"/>
                  <a:cs typeface="Franklin Gothic Demi Cond" charset="0"/>
                </a:rPr>
                <a:t>DATA</a:t>
              </a:r>
              <a:endParaRPr sz="4800">
                <a:latin typeface="Franklin Gothic Demi Cond" charset="0"/>
                <a:ea typeface="Franklin Gothic Demi Cond" charset="0"/>
                <a:cs typeface="Franklin Gothic Demi Cond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987251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10.0.14393.0"/>
  <p:tag name="AS_RELEASE_DATE" val="2018.12.12"/>
  <p:tag name="AS_TITLE" val="Aspose.Slides for .NET 4.0"/>
  <p:tag name="AS_VERSION" val="18.1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10BE37ED0A674AAABCCCF211CFB64F" ma:contentTypeVersion="16" ma:contentTypeDescription="Create a new document." ma:contentTypeScope="" ma:versionID="29a6905665880213066aaa9aaf14929c">
  <xsd:schema xmlns:xsd="http://www.w3.org/2001/XMLSchema" xmlns:xs="http://www.w3.org/2001/XMLSchema" xmlns:p="http://schemas.microsoft.com/office/2006/metadata/properties" xmlns:ns2="cf2ac421-1284-4088-96c3-18e1d2d8f03a" xmlns:ns3="0052aaab-b9fb-4904-b07b-fd4c19a80e9a" targetNamespace="http://schemas.microsoft.com/office/2006/metadata/properties" ma:root="true" ma:fieldsID="3af383b8dc086b58afe32f0c8bed5599" ns2:_="" ns3:_="">
    <xsd:import namespace="cf2ac421-1284-4088-96c3-18e1d2d8f03a"/>
    <xsd:import namespace="0052aaab-b9fb-4904-b07b-fd4c19a80e9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2ac421-1284-4088-96c3-18e1d2d8f03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4598ee4-d5e5-4f6c-b9da-4d48f8cc1368}" ma:internalName="TaxCatchAll" ma:showField="CatchAllData" ma:web="cf2ac421-1284-4088-96c3-18e1d2d8f03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52aaab-b9fb-4904-b07b-fd4c19a80e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ddd575e-f966-4c21-8ccb-2dbfe9c821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2ac421-1284-4088-96c3-18e1d2d8f03a" xsi:nil="true"/>
    <lcf76f155ced4ddcb4097134ff3c332f xmlns="0052aaab-b9fb-4904-b07b-fd4c19a80e9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8AEF5D3-C5D7-4C62-B6AE-EEF470C58840}"/>
</file>

<file path=customXml/itemProps2.xml><?xml version="1.0" encoding="utf-8"?>
<ds:datastoreItem xmlns:ds="http://schemas.openxmlformats.org/officeDocument/2006/customXml" ds:itemID="{56DC5018-4A07-4E23-AE47-D5EF743950CA}"/>
</file>

<file path=customXml/itemProps3.xml><?xml version="1.0" encoding="utf-8"?>
<ds:datastoreItem xmlns:ds="http://schemas.openxmlformats.org/officeDocument/2006/customXml" ds:itemID="{8E37F19A-BA41-421C-AB3C-B24CD2528BDF}"/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107</Paragraphs>
  <Slides>7</Slides>
  <Notes>6</Notes>
  <TotalTime>3487</TotalTime>
  <HiddenSlides>0</HiddenSlides>
  <MMClips>0</MMClips>
  <ScaleCrop>0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8">
      <vt:lpstr>Office Theme</vt:lpstr>
      <vt:lpstr>Slide 1</vt:lpstr>
      <vt:lpstr>REPORTS</vt:lpstr>
      <vt:lpstr>REPORTS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  <Application>Aspose.Slides for .NET</Application>
  <AppVersion>18.1200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Tore Alden</dc:creator>
  <cp:lastModifiedBy>Tore Alden</cp:lastModifiedBy>
  <cp:revision>12</cp:revision>
  <dcterms:created xsi:type="dcterms:W3CDTF">2018-07-20T17:13:14Z</dcterms:created>
  <dcterms:modified xsi:type="dcterms:W3CDTF">2021-04-28T14:35:51Z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NKTEK-CHUNK-1">
    <vt:lpwstr>010021{"F":2,"I":"4398-9520-DD14-055B"}</vt:lpwstr>
  </property>
  <property fmtid="{D5CDD505-2E9C-101B-9397-08002B2CF9AE}" pid="3" name="ContentTypeId">
    <vt:lpwstr>0x010100C810BE37ED0A674AAABCCCF211CFB64F</vt:lpwstr>
  </property>
  <property fmtid="{D5CDD505-2E9C-101B-9397-08002B2CF9AE}" pid="4" name="Order">
    <vt:r8>2400</vt:r8>
  </property>
</Properties>
</file>