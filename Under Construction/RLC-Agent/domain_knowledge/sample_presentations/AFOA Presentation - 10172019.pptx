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686" r:id="rId2"/>
    <p:sldId id="687" r:id="rId3"/>
    <p:sldId id="701" r:id="rId4"/>
    <p:sldId id="702" r:id="rId5"/>
    <p:sldId id="691" r:id="rId6"/>
    <p:sldId id="688" r:id="rId7"/>
    <p:sldId id="690" r:id="rId8"/>
    <p:sldId id="693" r:id="rId9"/>
    <p:sldId id="692" r:id="rId10"/>
    <p:sldId id="694" r:id="rId11"/>
    <p:sldId id="695" r:id="rId12"/>
    <p:sldId id="696" r:id="rId13"/>
    <p:sldId id="697" r:id="rId14"/>
    <p:sldId id="704" r:id="rId15"/>
    <p:sldId id="698" r:id="rId16"/>
    <p:sldId id="705" r:id="rId17"/>
    <p:sldId id="709" r:id="rId18"/>
    <p:sldId id="706" r:id="rId19"/>
    <p:sldId id="707" r:id="rId20"/>
    <p:sldId id="70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nda Bittner" initials="AB" lastIdx="11" clrIdx="0">
    <p:extLst>
      <p:ext uri="{19B8F6BF-5375-455C-9EA6-DF929625EA0E}">
        <p15:presenceInfo xmlns:p15="http://schemas.microsoft.com/office/powerpoint/2012/main" userId="S-1-5-21-3313902355-22749281-65786543-5265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e Alden" userId="211776430_tp_dropbox" providerId="OAuth2" clId="{D2C810ED-40A1-7A45-B625-2B8C63D710B2}"/>
    <pc:docChg chg="modSld">
      <pc:chgData name="Tore Alden" userId="211776430_tp_dropbox" providerId="OAuth2" clId="{D2C810ED-40A1-7A45-B625-2B8C63D710B2}" dt="2019-10-16T18:44:52.697" v="1" actId="1076"/>
      <pc:docMkLst>
        <pc:docMk/>
      </pc:docMkLst>
      <pc:sldChg chg="modSp">
        <pc:chgData name="Tore Alden" userId="211776430_tp_dropbox" providerId="OAuth2" clId="{D2C810ED-40A1-7A45-B625-2B8C63D710B2}" dt="2019-10-16T18:44:52.697" v="1" actId="1076"/>
        <pc:sldMkLst>
          <pc:docMk/>
          <pc:sldMk cId="2123852027" sldId="686"/>
        </pc:sldMkLst>
        <pc:spChg chg="mod">
          <ac:chgData name="Tore Alden" userId="211776430_tp_dropbox" providerId="OAuth2" clId="{D2C810ED-40A1-7A45-B625-2B8C63D710B2}" dt="2019-10-16T18:44:52.697" v="1" actId="1076"/>
          <ac:spMkLst>
            <pc:docMk/>
            <pc:sldMk cId="2123852027" sldId="686"/>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80930-B80E-4122-8CAA-97513B8DE393}" type="datetimeFigureOut">
              <a:rPr lang="en-US" smtClean="0"/>
              <a:t>10/16/19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8BC831-C729-4451-80B1-E8A0F3899C63}" type="slidenum">
              <a:rPr lang="en-US" smtClean="0"/>
              <a:t>‹#›</a:t>
            </a:fld>
            <a:endParaRPr lang="en-US"/>
          </a:p>
        </p:txBody>
      </p:sp>
    </p:spTree>
    <p:extLst>
      <p:ext uri="{BB962C8B-B14F-4D97-AF65-F5344CB8AC3E}">
        <p14:creationId xmlns:p14="http://schemas.microsoft.com/office/powerpoint/2010/main" val="2865161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19259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1999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4726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5759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96875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97999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1111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95875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91359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28494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69624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865968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1567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78663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20350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1365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043999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101137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2116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B6F46-C003-4176-AA1E-2458E6ED35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1B5C81-8578-42B1-8CDD-BB6DA6C5ED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F54C42-8151-41FC-9774-70DA0B420A59}"/>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5" name="Footer Placeholder 4">
            <a:extLst>
              <a:ext uri="{FF2B5EF4-FFF2-40B4-BE49-F238E27FC236}">
                <a16:creationId xmlns:a16="http://schemas.microsoft.com/office/drawing/2014/main" id="{1CCD3E14-00F0-414F-9CC0-36041D6597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57663D-6629-4C11-B921-B20F8A32D19F}"/>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038233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44F50-4517-496D-AA20-DA078230DE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1A0D2F-AC14-46A2-B5B9-F670D77B506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FDCD33-B136-4214-ADBF-6B79C56741FD}"/>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5" name="Footer Placeholder 4">
            <a:extLst>
              <a:ext uri="{FF2B5EF4-FFF2-40B4-BE49-F238E27FC236}">
                <a16:creationId xmlns:a16="http://schemas.microsoft.com/office/drawing/2014/main" id="{C10CD2C3-0FF9-4FF8-81F3-9697792642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DD6D0-D3BC-47B2-8113-4311FF081951}"/>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258388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064A5-F8CC-4285-8CD1-CEE26499CC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0CA71A-56E8-4CC1-93DE-E01FA941BE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7C99749-BC28-48F3-A66C-7DE0E06282EF}"/>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5" name="Footer Placeholder 4">
            <a:extLst>
              <a:ext uri="{FF2B5EF4-FFF2-40B4-BE49-F238E27FC236}">
                <a16:creationId xmlns:a16="http://schemas.microsoft.com/office/drawing/2014/main" id="{8E026847-203F-46C2-84A9-FBF30A15DD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D188D4-0A60-4251-A6B2-50F3F260C365}"/>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546071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4155E-0AE7-4354-8297-A94BB300D7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40651-57DF-4810-B302-AF6C4045C36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65921C-CCDE-4C24-955D-7CFFE41BC63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9E9520-D20C-4EC5-BA73-7E86A925C902}"/>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6" name="Footer Placeholder 5">
            <a:extLst>
              <a:ext uri="{FF2B5EF4-FFF2-40B4-BE49-F238E27FC236}">
                <a16:creationId xmlns:a16="http://schemas.microsoft.com/office/drawing/2014/main" id="{D671A396-5C97-4B6F-9A02-8E5EADD01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DE7B0-E71E-44A2-9A52-65D216E3F11E}"/>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1869313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D7AC-1FE8-4E62-8BDE-A77B88B4F8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E329DD-253A-41DA-950E-2D75D66C2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0B45DA7-09AA-4693-8344-090D7E009B2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980701-EBDC-4D8D-BCCC-C3FD65C366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14B04A4-262F-4539-9EC8-51F1B511752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866725-48A7-43F4-B770-2A7BC813A7E6}"/>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8" name="Footer Placeholder 7">
            <a:extLst>
              <a:ext uri="{FF2B5EF4-FFF2-40B4-BE49-F238E27FC236}">
                <a16:creationId xmlns:a16="http://schemas.microsoft.com/office/drawing/2014/main" id="{DAB8C5FE-E062-4862-B3D9-5A50AFC9D3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FE47C-B88F-421F-B0CE-DEBE2FAF00EB}"/>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420549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275CB-84FD-43B2-80AC-834E194FB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28424E-2A8B-4B9E-80E8-1FB60121C750}"/>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4" name="Footer Placeholder 3">
            <a:extLst>
              <a:ext uri="{FF2B5EF4-FFF2-40B4-BE49-F238E27FC236}">
                <a16:creationId xmlns:a16="http://schemas.microsoft.com/office/drawing/2014/main" id="{533CB6DB-7747-4794-B920-FEB325B662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5720B8-3C82-4360-BF4C-72074F35876C}"/>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211539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8CBB8-4C08-44A2-85F6-0FE8AABC5DE2}"/>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3" name="Footer Placeholder 2">
            <a:extLst>
              <a:ext uri="{FF2B5EF4-FFF2-40B4-BE49-F238E27FC236}">
                <a16:creationId xmlns:a16="http://schemas.microsoft.com/office/drawing/2014/main" id="{5C8D994B-AE0A-46F4-B0BA-ACDBE782A7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BE49AA-7798-42FD-8A6C-F99DC23255AF}"/>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117051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66D3-603B-499A-8EF1-6C10337E49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8EC104-F35A-49C0-94EE-CE8CBFB4AA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2F54811-F88E-4FB7-9335-FA264CCF2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7E0A9B-3C5A-4065-BA55-FFA5862DFA93}"/>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6" name="Footer Placeholder 5">
            <a:extLst>
              <a:ext uri="{FF2B5EF4-FFF2-40B4-BE49-F238E27FC236}">
                <a16:creationId xmlns:a16="http://schemas.microsoft.com/office/drawing/2014/main" id="{09E2B8B1-DC55-4DB0-A726-7130B59E5A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1F2FD7-29B5-48EB-BE43-514E9FD88366}"/>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054403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F8016-8B38-481C-A0BE-CA93BAE6C3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6D7539-0EB9-4F41-B750-43CE71CA9A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ECC7A8-08CB-41E1-94ED-35D2540065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D3B1BB-8C92-47DC-A2BA-970CCAEF9431}"/>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6" name="Footer Placeholder 5">
            <a:extLst>
              <a:ext uri="{FF2B5EF4-FFF2-40B4-BE49-F238E27FC236}">
                <a16:creationId xmlns:a16="http://schemas.microsoft.com/office/drawing/2014/main" id="{1054C7B1-66CA-417B-95E6-3F996A11AD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FC177F-19A8-4F7D-840E-C2A86159D37F}"/>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4098059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023B9-C90F-4BDA-935F-C61A01D06F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45C2B6-D2C3-44E0-88B5-164F992E6CC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42C17D-E6B6-456B-8C41-BA497D2AAF50}"/>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5" name="Footer Placeholder 4">
            <a:extLst>
              <a:ext uri="{FF2B5EF4-FFF2-40B4-BE49-F238E27FC236}">
                <a16:creationId xmlns:a16="http://schemas.microsoft.com/office/drawing/2014/main" id="{5400C6BA-E5AB-442D-BE4A-B585664055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7E6999-AAB8-4103-9FF2-F80E44831D53}"/>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2047146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6759A5-6843-491B-9C3E-F2CCAB23D0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88F1AF-82C9-4100-87D8-2EA18D1B2BA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B6047-3A93-4BF8-9D2B-F808406C0D9C}"/>
              </a:ext>
            </a:extLst>
          </p:cNvPr>
          <p:cNvSpPr>
            <a:spLocks noGrp="1"/>
          </p:cNvSpPr>
          <p:nvPr>
            <p:ph type="dt" sz="half" idx="10"/>
          </p:nvPr>
        </p:nvSpPr>
        <p:spPr/>
        <p:txBody>
          <a:bodyPr/>
          <a:lstStyle/>
          <a:p>
            <a:fld id="{6785D025-49DC-49E8-AA0A-0C7AB253FA26}" type="datetimeFigureOut">
              <a:rPr lang="en-US" smtClean="0"/>
              <a:t>10/16/19</a:t>
            </a:fld>
            <a:endParaRPr lang="en-US"/>
          </a:p>
        </p:txBody>
      </p:sp>
      <p:sp>
        <p:nvSpPr>
          <p:cNvPr id="5" name="Footer Placeholder 4">
            <a:extLst>
              <a:ext uri="{FF2B5EF4-FFF2-40B4-BE49-F238E27FC236}">
                <a16:creationId xmlns:a16="http://schemas.microsoft.com/office/drawing/2014/main" id="{8BA5DB15-6BC0-4D14-9D18-BF2B68960F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A1C9B5-C8DB-44E1-B24A-54EE77FF57B0}"/>
              </a:ext>
            </a:extLst>
          </p:cNvPr>
          <p:cNvSpPr>
            <a:spLocks noGrp="1"/>
          </p:cNvSpPr>
          <p:nvPr>
            <p:ph type="sldNum" sz="quarter" idx="12"/>
          </p:nvPr>
        </p:nvSpPr>
        <p:spPr/>
        <p:txBody>
          <a:bodyPr/>
          <a:lstStyle/>
          <a:p>
            <a:fld id="{63BF7635-1570-4B02-B8B4-2B0D138B38AD}" type="slidenum">
              <a:rPr lang="en-US" smtClean="0"/>
              <a:t>‹#›</a:t>
            </a:fld>
            <a:endParaRPr lang="en-US"/>
          </a:p>
        </p:txBody>
      </p:sp>
    </p:spTree>
    <p:extLst>
      <p:ext uri="{BB962C8B-B14F-4D97-AF65-F5344CB8AC3E}">
        <p14:creationId xmlns:p14="http://schemas.microsoft.com/office/powerpoint/2010/main" val="3999934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0315FA-817D-4E34-BF85-EF204B8B3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A18057-41F4-4D65-ACE8-8149C411F6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BDC44-1D47-4985-8336-8454F619E5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5D025-49DC-49E8-AA0A-0C7AB253FA26}" type="datetimeFigureOut">
              <a:rPr lang="en-US" smtClean="0"/>
              <a:t>10/16/19</a:t>
            </a:fld>
            <a:endParaRPr lang="en-US"/>
          </a:p>
        </p:txBody>
      </p:sp>
      <p:sp>
        <p:nvSpPr>
          <p:cNvPr id="5" name="Footer Placeholder 4">
            <a:extLst>
              <a:ext uri="{FF2B5EF4-FFF2-40B4-BE49-F238E27FC236}">
                <a16:creationId xmlns:a16="http://schemas.microsoft.com/office/drawing/2014/main" id="{2FAD21A9-2EFB-493C-998B-C08453954D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86A01A-A0E2-4BF5-94E2-2A0FD70E50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BF7635-1570-4B02-B8B4-2B0D138B38AD}" type="slidenum">
              <a:rPr lang="en-US" smtClean="0"/>
              <a:t>‹#›</a:t>
            </a:fld>
            <a:endParaRPr lang="en-US"/>
          </a:p>
        </p:txBody>
      </p:sp>
    </p:spTree>
    <p:extLst>
      <p:ext uri="{BB962C8B-B14F-4D97-AF65-F5344CB8AC3E}">
        <p14:creationId xmlns:p14="http://schemas.microsoft.com/office/powerpoint/2010/main" val="317392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p:nvPr/>
        </p:nvSpPr>
        <p:spPr>
          <a:xfrm>
            <a:off x="7463831" y="4836636"/>
            <a:ext cx="51296" cy="689932"/>
          </a:xfrm>
          <a:prstGeom prst="rect">
            <a:avLst/>
          </a:prstGeom>
          <a:ln w="12700">
            <a:miter lim="400000"/>
          </a:ln>
          <a:extLst>
            <a:ext uri="{C572A759-6A51-4108-AA02-DFA0A04FC94B}">
              <ma14:wrappingTextBoxFlag xmlns:ma14="http://schemas.microsoft.com/office/mac/drawingml/2011/main" xmlns="" val="1"/>
            </a:ext>
          </a:extLst>
        </p:spPr>
        <p:txBody>
          <a:bodyPr wrap="none" lIns="25400" tIns="25400" rIns="25400" bIns="25400" anchor="ctr">
            <a:spAutoFit/>
          </a:bodyPr>
          <a:lstStyle>
            <a:lvl1pPr>
              <a:defRPr sz="8300">
                <a:solidFill>
                  <a:srgbClr val="FFFFFF"/>
                </a:solidFill>
                <a:latin typeface="Futura"/>
                <a:ea typeface="Futura"/>
                <a:cs typeface="Futura"/>
                <a:sym typeface="Futura"/>
              </a:defRPr>
            </a:lvl1pPr>
          </a:lstStyle>
          <a:p>
            <a:endParaRPr lang="en-US" sz="4150" dirty="0">
              <a:latin typeface="Century Gothic" charset="0"/>
              <a:ea typeface="Century Gothic" charset="0"/>
              <a:cs typeface="Century Gothic" charset="0"/>
            </a:endParaRPr>
          </a:p>
        </p:txBody>
      </p:sp>
      <p:sp>
        <p:nvSpPr>
          <p:cNvPr id="4" name="TextBox 3"/>
          <p:cNvSpPr txBox="1"/>
          <p:nvPr/>
        </p:nvSpPr>
        <p:spPr>
          <a:xfrm>
            <a:off x="209176" y="298824"/>
            <a:ext cx="11684000" cy="2800767"/>
          </a:xfrm>
          <a:prstGeom prst="rect">
            <a:avLst/>
          </a:prstGeom>
          <a:noFill/>
        </p:spPr>
        <p:txBody>
          <a:bodyPr wrap="square" rtlCol="0">
            <a:spAutoFit/>
          </a:bodyPr>
          <a:lstStyle/>
          <a:p>
            <a:r>
              <a:rPr lang="en-US" sz="4800" dirty="0">
                <a:latin typeface="Century Gothic"/>
                <a:cs typeface="Century Gothic"/>
              </a:rPr>
              <a:t>Vegetable Oil Outlook</a:t>
            </a:r>
          </a:p>
          <a:p>
            <a:endParaRPr lang="en-US" sz="3200" dirty="0">
              <a:latin typeface="Century Gothic"/>
              <a:cs typeface="Century Gothic"/>
            </a:endParaRPr>
          </a:p>
          <a:p>
            <a:endParaRPr lang="en-US" sz="3200" dirty="0">
              <a:latin typeface="Century Gothic"/>
              <a:cs typeface="Century Gothic"/>
            </a:endParaRPr>
          </a:p>
          <a:p>
            <a:endParaRPr lang="en-US" sz="3200" dirty="0">
              <a:latin typeface="Century Gothic"/>
              <a:cs typeface="Century Gothic"/>
            </a:endParaRPr>
          </a:p>
          <a:p>
            <a:r>
              <a:rPr lang="en-US" sz="3200" dirty="0">
                <a:latin typeface="Century Gothic"/>
                <a:cs typeface="Century Gothic"/>
              </a:rPr>
              <a:t>October 17, 2019</a:t>
            </a:r>
          </a:p>
        </p:txBody>
      </p:sp>
      <p:sp>
        <p:nvSpPr>
          <p:cNvPr id="9" name="Shape 119"/>
          <p:cNvSpPr/>
          <p:nvPr/>
        </p:nvSpPr>
        <p:spPr>
          <a:xfrm>
            <a:off x="-44824" y="4665305"/>
            <a:ext cx="12192000" cy="2192695"/>
          </a:xfrm>
          <a:prstGeom prst="rect">
            <a:avLst/>
          </a:prstGeom>
          <a:solidFill>
            <a:srgbClr val="243A48"/>
          </a:solidFill>
          <a:ln w="12700">
            <a:miter lim="400000"/>
          </a:ln>
        </p:spPr>
        <p:txBody>
          <a:bodyPr lIns="25400" tIns="25400" rIns="25400" bIns="25400" anchor="ctr"/>
          <a:lstStyle/>
          <a:p>
            <a:pPr>
              <a:defRPr sz="3200">
                <a:solidFill>
                  <a:srgbClr val="FFFFFF"/>
                </a:solidFill>
              </a:defRPr>
            </a:pPr>
            <a:endParaRPr sz="1600">
              <a:solidFill>
                <a:srgbClr val="F3E437"/>
              </a:solidFill>
            </a:endParaRPr>
          </a:p>
        </p:txBody>
      </p:sp>
      <p:pic>
        <p:nvPicPr>
          <p:cNvPr id="120" name="pasted-image.png"/>
          <p:cNvPicPr>
            <a:picLocks noChangeAspect="1"/>
          </p:cNvPicPr>
          <p:nvPr/>
        </p:nvPicPr>
        <p:blipFill>
          <a:blip r:embed="rId2"/>
          <a:stretch>
            <a:fillRect/>
          </a:stretch>
        </p:blipFill>
        <p:spPr>
          <a:xfrm>
            <a:off x="9239081" y="3614831"/>
            <a:ext cx="2527301" cy="736601"/>
          </a:xfrm>
          <a:prstGeom prst="rect">
            <a:avLst/>
          </a:prstGeom>
          <a:ln w="12700">
            <a:miter lim="400000"/>
          </a:ln>
        </p:spPr>
      </p:pic>
    </p:spTree>
    <p:extLst>
      <p:ext uri="{BB962C8B-B14F-4D97-AF65-F5344CB8AC3E}">
        <p14:creationId xmlns:p14="http://schemas.microsoft.com/office/powerpoint/2010/main" val="2123852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U.S. BIOFUEL POLICY</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9465182" y="507546"/>
            <a:ext cx="2482977" cy="5313506"/>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200" dirty="0">
                <a:latin typeface="Century Gothic" charset="0"/>
                <a:ea typeface="Century Gothic" charset="0"/>
                <a:cs typeface="Century Gothic" charset="0"/>
              </a:rPr>
              <a:t>In October President Trump released his long-awaited and much anticipated program to boost domestic biofuel use.</a:t>
            </a:r>
          </a:p>
          <a:p>
            <a:pPr>
              <a:buClr>
                <a:srgbClr val="8E9A44"/>
              </a:buClr>
              <a:buSzPct val="125000"/>
            </a:pPr>
            <a:endParaRPr lang="en-US" sz="12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200" dirty="0">
                <a:latin typeface="Century Gothic" charset="0"/>
                <a:ea typeface="Century Gothic" charset="0"/>
                <a:cs typeface="Century Gothic" charset="0"/>
              </a:rPr>
              <a:t>Pre-release expectations for components of the plan included supplemental RVOs, reductions in SREs and offsets for gallons exempted in prior years.</a:t>
            </a:r>
          </a:p>
          <a:p>
            <a:pPr>
              <a:buClr>
                <a:srgbClr val="8E9A44"/>
              </a:buClr>
              <a:buSzPct val="125000"/>
            </a:pPr>
            <a:endParaRPr lang="en-US" sz="12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200" dirty="0">
                <a:latin typeface="Century Gothic" charset="0"/>
                <a:ea typeface="Century Gothic" charset="0"/>
                <a:cs typeface="Century Gothic" charset="0"/>
              </a:rPr>
              <a:t>The press release was short on details, but interviews with Secretary of Agriculture Perdue made it clear the plan was focused on ethanol usage.</a:t>
            </a:r>
          </a:p>
          <a:p>
            <a:pPr>
              <a:buClr>
                <a:srgbClr val="8E9A44"/>
              </a:buClr>
              <a:buSzPct val="125000"/>
            </a:pPr>
            <a:endParaRPr lang="en-US" sz="12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200" dirty="0">
                <a:latin typeface="Century Gothic" charset="0"/>
                <a:ea typeface="Century Gothic" charset="0"/>
                <a:cs typeface="Century Gothic" charset="0"/>
              </a:rPr>
              <a:t>The plan reportedly includes an offset for projected SREs, but more will be known when the details are published in the </a:t>
            </a:r>
            <a:r>
              <a:rPr lang="en-US" sz="1200" i="1" dirty="0">
                <a:latin typeface="Century Gothic" charset="0"/>
                <a:ea typeface="Century Gothic" charset="0"/>
                <a:cs typeface="Century Gothic" charset="0"/>
              </a:rPr>
              <a:t>Federal Register.</a:t>
            </a:r>
            <a:endParaRPr lang="en-US" sz="1200" dirty="0">
              <a:latin typeface="Century Gothic" charset="0"/>
              <a:ea typeface="Century Gothic" charset="0"/>
              <a:cs typeface="Century Gothic" charset="0"/>
            </a:endParaRPr>
          </a:p>
          <a:p>
            <a:pPr marL="800100" indent="-342900">
              <a:buFont typeface="Arial" panose="020B0604020202020204" pitchFamily="34" charset="0"/>
              <a:buChar char="•"/>
            </a:pPr>
            <a:endParaRPr lang="en-US" sz="1400" dirty="0">
              <a:latin typeface="Century Gothic" charset="0"/>
              <a:ea typeface="Century Gothic" charset="0"/>
              <a:cs typeface="Century Gothic" charset="0"/>
            </a:endParaRPr>
          </a:p>
          <a:p>
            <a:pPr marL="457200"/>
            <a:r>
              <a:rPr lang="en-US" sz="2150" dirty="0">
                <a:latin typeface="Century Gothic" charset="0"/>
                <a:ea typeface="Century Gothic" charset="0"/>
                <a:cs typeface="Century Gothic" charset="0"/>
              </a:rPr>
              <a:t>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6" name="Picture 5">
            <a:extLst>
              <a:ext uri="{FF2B5EF4-FFF2-40B4-BE49-F238E27FC236}">
                <a16:creationId xmlns:a16="http://schemas.microsoft.com/office/drawing/2014/main" id="{8ADAB6F7-DAEE-4D0C-B3E2-2D34C738315F}"/>
              </a:ext>
            </a:extLst>
          </p:cNvPr>
          <p:cNvPicPr>
            <a:picLocks noChangeAspect="1"/>
          </p:cNvPicPr>
          <p:nvPr/>
        </p:nvPicPr>
        <p:blipFill>
          <a:blip r:embed="rId4"/>
          <a:stretch>
            <a:fillRect/>
          </a:stretch>
        </p:blipFill>
        <p:spPr>
          <a:xfrm>
            <a:off x="912928" y="289508"/>
            <a:ext cx="8463147" cy="4796508"/>
          </a:xfrm>
          <a:prstGeom prst="rect">
            <a:avLst/>
          </a:prstGeom>
        </p:spPr>
      </p:pic>
    </p:spTree>
    <p:extLst>
      <p:ext uri="{BB962C8B-B14F-4D97-AF65-F5344CB8AC3E}">
        <p14:creationId xmlns:p14="http://schemas.microsoft.com/office/powerpoint/2010/main" val="1599349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U.S. BIOFUEL POLICY</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9521951" y="686606"/>
            <a:ext cx="2426209" cy="4534831"/>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impact of less than optimal management of expectations has been disappointment from many in the biofuel industry.</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There is also some fear that President Trump may have become frustrated by the difficultly of finding a solution that keeps farm and energy interests happy and may pivot to trade negotiations with the Chinese to provide support for the agricultural industry.</a:t>
            </a:r>
          </a:p>
          <a:p>
            <a:pPr marL="231775" indent="-231775">
              <a:buFont typeface="Arial" panose="020B0604020202020204" pitchFamily="34" charset="0"/>
              <a:buChar char="•"/>
            </a:pPr>
            <a:endParaRPr lang="en-US" sz="1400" dirty="0">
              <a:latin typeface="Century Gothic" charset="0"/>
              <a:ea typeface="Century Gothic" charset="0"/>
              <a:cs typeface="Century Gothic" charset="0"/>
            </a:endParaRPr>
          </a:p>
          <a:p>
            <a:pPr marL="457200"/>
            <a:r>
              <a:rPr lang="en-US" sz="2150" dirty="0">
                <a:latin typeface="Century Gothic" charset="0"/>
                <a:ea typeface="Century Gothic" charset="0"/>
                <a:cs typeface="Century Gothic" charset="0"/>
              </a:rPr>
              <a:t>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5" name="Picture 4">
            <a:extLst>
              <a:ext uri="{FF2B5EF4-FFF2-40B4-BE49-F238E27FC236}">
                <a16:creationId xmlns:a16="http://schemas.microsoft.com/office/drawing/2014/main" id="{3A5DCA28-3B75-4DBC-84F3-0C20C9D7C96D}"/>
              </a:ext>
            </a:extLst>
          </p:cNvPr>
          <p:cNvPicPr>
            <a:picLocks noChangeAspect="1"/>
          </p:cNvPicPr>
          <p:nvPr/>
        </p:nvPicPr>
        <p:blipFill>
          <a:blip r:embed="rId4"/>
          <a:stretch>
            <a:fillRect/>
          </a:stretch>
        </p:blipFill>
        <p:spPr>
          <a:xfrm>
            <a:off x="1044289" y="345847"/>
            <a:ext cx="8363738" cy="4740168"/>
          </a:xfrm>
          <a:prstGeom prst="rect">
            <a:avLst/>
          </a:prstGeom>
        </p:spPr>
      </p:pic>
    </p:spTree>
    <p:extLst>
      <p:ext uri="{BB962C8B-B14F-4D97-AF65-F5344CB8AC3E}">
        <p14:creationId xmlns:p14="http://schemas.microsoft.com/office/powerpoint/2010/main" val="314103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U.S. BIOFUEL POLICY</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9565609" y="587138"/>
            <a:ext cx="2426209" cy="585211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Staff members of the House Ways and Means and Senate Finance Committees have been negotiating a bill for the “tax extenders” package that could be attached to the omnibus spending bill that must be passed when the continuing resolution expires.</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Increased optimism about the restoration of the BTC is driving bids higher.</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decline in offers may be more of an indication of risk tolerances than an opinion about the probability of the reinstatement of the BTC.</a:t>
            </a:r>
          </a:p>
          <a:p>
            <a:pPr marL="231775" indent="-231775">
              <a:buFont typeface="Arial" panose="020B0604020202020204" pitchFamily="34" charset="0"/>
              <a:buChar char="•"/>
            </a:pPr>
            <a:endParaRPr lang="en-US" sz="1400" dirty="0">
              <a:latin typeface="Century Gothic" charset="0"/>
              <a:ea typeface="Century Gothic" charset="0"/>
              <a:cs typeface="Century Gothic" charset="0"/>
            </a:endParaRPr>
          </a:p>
          <a:p>
            <a:pPr marL="457200"/>
            <a:r>
              <a:rPr lang="en-US" sz="2150" dirty="0">
                <a:latin typeface="Century Gothic" charset="0"/>
                <a:ea typeface="Century Gothic" charset="0"/>
                <a:cs typeface="Century Gothic" charset="0"/>
              </a:rPr>
              <a:t>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2" name="Picture 1">
            <a:extLst>
              <a:ext uri="{FF2B5EF4-FFF2-40B4-BE49-F238E27FC236}">
                <a16:creationId xmlns:a16="http://schemas.microsoft.com/office/drawing/2014/main" id="{B2F361DE-434D-4EC8-9454-0241686990D6}"/>
              </a:ext>
            </a:extLst>
          </p:cNvPr>
          <p:cNvPicPr>
            <a:picLocks noChangeAspect="1"/>
          </p:cNvPicPr>
          <p:nvPr/>
        </p:nvPicPr>
        <p:blipFill>
          <a:blip r:embed="rId4"/>
          <a:stretch>
            <a:fillRect/>
          </a:stretch>
        </p:blipFill>
        <p:spPr>
          <a:xfrm>
            <a:off x="1115157" y="393187"/>
            <a:ext cx="8450452" cy="4783889"/>
          </a:xfrm>
          <a:prstGeom prst="rect">
            <a:avLst/>
          </a:prstGeom>
        </p:spPr>
      </p:pic>
    </p:spTree>
    <p:extLst>
      <p:ext uri="{BB962C8B-B14F-4D97-AF65-F5344CB8AC3E}">
        <p14:creationId xmlns:p14="http://schemas.microsoft.com/office/powerpoint/2010/main" val="3881792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U.S. BIOFUELS POLICY</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8451125" y="364177"/>
            <a:ext cx="3606762" cy="542430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Jacobsen is projecting soybean oil demand for biomass-based diesel production will be relatively flat for 2019/20, but growth in renewable diesel production raises demand from the biofuel industry.</a:t>
            </a:r>
          </a:p>
          <a:p>
            <a:pPr marL="231775" indent="-231775">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Biofuel demand is expected to start crowding out other sectors as soon as 2020/21.</a:t>
            </a:r>
          </a:p>
          <a:p>
            <a:pPr marL="231775" indent="-231775">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A reduction in exports can provide the supply for biofuel for a while, but eventually crush may be driven by soybean oil.</a:t>
            </a:r>
          </a:p>
          <a:p>
            <a:pPr marL="231775" indent="-231775">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Even if federal renewable fuel policy remains uncertain, state-level efforts in the Corn-Belt could replace the Renewable Fuel Standard as the driving force behind biodiesel demand.</a:t>
            </a:r>
          </a:p>
          <a:p>
            <a:pPr marL="800100" indent="-342900">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p:txBody>
      </p:sp>
      <p:pic>
        <p:nvPicPr>
          <p:cNvPr id="4" name="Picture 3" descr="A close up of text on a white background&#10;&#10;Description automatically generated">
            <a:extLst>
              <a:ext uri="{FF2B5EF4-FFF2-40B4-BE49-F238E27FC236}">
                <a16:creationId xmlns:a16="http://schemas.microsoft.com/office/drawing/2014/main" id="{654A1410-A2F0-402F-8083-038D4DB0E7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0803" y="367464"/>
            <a:ext cx="7244332" cy="4848842"/>
          </a:xfrm>
          <a:prstGeom prst="rect">
            <a:avLst/>
          </a:prstGeom>
        </p:spPr>
      </p:pic>
    </p:spTree>
    <p:extLst>
      <p:ext uri="{BB962C8B-B14F-4D97-AF65-F5344CB8AC3E}">
        <p14:creationId xmlns:p14="http://schemas.microsoft.com/office/powerpoint/2010/main" val="1581618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U.S. BALANCE SHEET </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8922762" y="98332"/>
            <a:ext cx="3143126" cy="5735160"/>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Jacobsen and USDA have similar 2019/20 ending stocks but get there in slightly different ways.</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Jacobsen’s crush forecast is 45 million bushels below USDA’s prediction, which reduces production by more than 500 million pounds.</a:t>
            </a:r>
          </a:p>
          <a:p>
            <a:pPr>
              <a:buClr>
                <a:srgbClr val="8E9A44"/>
              </a:buClr>
              <a:buSzPct val="125000"/>
            </a:pPr>
            <a:r>
              <a:rPr lang="en-US" sz="1400" dirty="0">
                <a:latin typeface="Century Gothic" charset="0"/>
                <a:ea typeface="Century Gothic" charset="0"/>
                <a:cs typeface="Century Gothic" charset="0"/>
              </a:rPr>
              <a:t> </a:t>
            </a: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Jacobsen’s biomass-based diesel use forecast is substantially below USDA’s projection, but could be raised substantially if BTC is reinstated.</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Despite similar ending stocks projections, The Jacobsen is predicting soybean oil prices almost one cent per pound higher than USDA and believes there is more upside price risk than downside.</a:t>
            </a:r>
          </a:p>
          <a:p>
            <a:pPr marL="457200"/>
            <a:endParaRPr lang="en-US" sz="2150" dirty="0">
              <a:latin typeface="Century Gothic" charset="0"/>
              <a:ea typeface="Century Gothic" charset="0"/>
              <a:cs typeface="Century Gothic" charset="0"/>
            </a:endParaRPr>
          </a:p>
        </p:txBody>
      </p:sp>
      <p:pic>
        <p:nvPicPr>
          <p:cNvPr id="4" name="Picture 3" descr="A screenshot of a cell phone&#10;&#10;Description automatically generated">
            <a:extLst>
              <a:ext uri="{FF2B5EF4-FFF2-40B4-BE49-F238E27FC236}">
                <a16:creationId xmlns:a16="http://schemas.microsoft.com/office/drawing/2014/main" id="{6BC3C9F9-422E-45BA-8063-75DB5B1DF7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7074" y="402363"/>
            <a:ext cx="7738857" cy="3889221"/>
          </a:xfrm>
          <a:prstGeom prst="rect">
            <a:avLst/>
          </a:prstGeom>
        </p:spPr>
      </p:pic>
    </p:spTree>
    <p:extLst>
      <p:ext uri="{BB962C8B-B14F-4D97-AF65-F5344CB8AC3E}">
        <p14:creationId xmlns:p14="http://schemas.microsoft.com/office/powerpoint/2010/main" val="2232909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27496"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ARGENTINA</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flipV="1">
            <a:off x="719939" y="6167152"/>
            <a:ext cx="11472061" cy="1258"/>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8344441" y="431572"/>
            <a:ext cx="3640448" cy="3267561"/>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Jacobsen is projecting growth in biodiesel production. However, change in the status of U.S. Commerce Department’s review of counter-vailing duties could limit growth.</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If biodiesel use is below The Jacobsen’s forecast, the additional supply is likely to be exported.</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Weather has been dry and hot to start the growing season, but recent changes have improved soil moisture levels in some areas.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5" name="Picture 4" descr="A screenshot of a cell phone&#10;&#10;Description automatically generated">
            <a:extLst>
              <a:ext uri="{FF2B5EF4-FFF2-40B4-BE49-F238E27FC236}">
                <a16:creationId xmlns:a16="http://schemas.microsoft.com/office/drawing/2014/main" id="{8C08CA87-2BF6-47B3-A36A-314B59259F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7595" y="431572"/>
            <a:ext cx="7316846" cy="4472940"/>
          </a:xfrm>
          <a:prstGeom prst="rect">
            <a:avLst/>
          </a:prstGeom>
        </p:spPr>
      </p:pic>
    </p:spTree>
    <p:extLst>
      <p:ext uri="{BB962C8B-B14F-4D97-AF65-F5344CB8AC3E}">
        <p14:creationId xmlns:p14="http://schemas.microsoft.com/office/powerpoint/2010/main" val="4199934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BRAZIL</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3" name="Shape 497">
            <a:extLst>
              <a:ext uri="{FF2B5EF4-FFF2-40B4-BE49-F238E27FC236}">
                <a16:creationId xmlns:a16="http://schemas.microsoft.com/office/drawing/2014/main" id="{B68091D4-4FA8-4A88-81D1-D402C81B051E}"/>
              </a:ext>
            </a:extLst>
          </p:cNvPr>
          <p:cNvSpPr/>
          <p:nvPr/>
        </p:nvSpPr>
        <p:spPr>
          <a:xfrm>
            <a:off x="8494096" y="517298"/>
            <a:ext cx="3487742" cy="3254481"/>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A29A44"/>
              </a:buClr>
              <a:buSzPct val="125000"/>
              <a:buFont typeface="Arial" panose="020B0604020202020204" pitchFamily="34" charset="0"/>
              <a:buChar char="•"/>
            </a:pPr>
            <a:r>
              <a:rPr lang="en-US" sz="1400" dirty="0">
                <a:latin typeface="Century Gothic" charset="0"/>
                <a:ea typeface="Century Gothic" charset="0"/>
                <a:cs typeface="Century Gothic" charset="0"/>
              </a:rPr>
              <a:t>Growing domestic biodiesel use is expected to drive exports lower. </a:t>
            </a:r>
          </a:p>
          <a:p>
            <a:pPr>
              <a:buClr>
                <a:srgbClr val="A29A44"/>
              </a:buClr>
              <a:buSzPct val="125000"/>
            </a:pPr>
            <a:endParaRPr lang="en-US" sz="1400" dirty="0">
              <a:latin typeface="Century Gothic" charset="0"/>
              <a:ea typeface="Century Gothic" charset="0"/>
              <a:cs typeface="Century Gothic" charset="0"/>
            </a:endParaRPr>
          </a:p>
          <a:p>
            <a:pPr marL="231775" indent="-231775">
              <a:buClr>
                <a:srgbClr val="A29A44"/>
              </a:buClr>
              <a:buSzPct val="125000"/>
              <a:buFont typeface="Arial" panose="020B0604020202020204" pitchFamily="34" charset="0"/>
              <a:buChar char="•"/>
            </a:pPr>
            <a:r>
              <a:rPr lang="en-US" sz="1400" dirty="0">
                <a:latin typeface="Century Gothic" charset="0"/>
                <a:ea typeface="Century Gothic" charset="0"/>
                <a:cs typeface="Century Gothic" charset="0"/>
              </a:rPr>
              <a:t>Brazilian soybean production is likely to remain robust in the coming years, which could provide additional room for crush.</a:t>
            </a:r>
          </a:p>
          <a:p>
            <a:pPr>
              <a:buClr>
                <a:srgbClr val="A29A44"/>
              </a:buClr>
              <a:buSzPct val="125000"/>
            </a:pPr>
            <a:r>
              <a:rPr lang="en-US" sz="1400" dirty="0">
                <a:latin typeface="Century Gothic" charset="0"/>
                <a:ea typeface="Century Gothic" charset="0"/>
                <a:cs typeface="Century Gothic" charset="0"/>
              </a:rPr>
              <a:t> </a:t>
            </a:r>
          </a:p>
          <a:p>
            <a:pPr marL="231775" indent="-231775">
              <a:buClr>
                <a:srgbClr val="A29A44"/>
              </a:buClr>
              <a:buSzPct val="125000"/>
              <a:buFont typeface="Arial" panose="020B0604020202020204" pitchFamily="34" charset="0"/>
              <a:buChar char="•"/>
            </a:pPr>
            <a:r>
              <a:rPr lang="en-US" sz="1400" dirty="0">
                <a:latin typeface="Century Gothic" charset="0"/>
                <a:ea typeface="Century Gothic" charset="0"/>
                <a:cs typeface="Century Gothic" charset="0"/>
              </a:rPr>
              <a:t>U.S./China trade deal expected to slightly reduce Brazilian shipments to China, which could allow for larger crush, but crop size will determine availability.</a:t>
            </a:r>
          </a:p>
          <a:p>
            <a:pPr marL="457200"/>
            <a:endParaRPr lang="en-US" sz="2150" dirty="0">
              <a:latin typeface="Century Gothic" charset="0"/>
              <a:ea typeface="Century Gothic" charset="0"/>
              <a:cs typeface="Century Gothic" charset="0"/>
            </a:endParaRPr>
          </a:p>
        </p:txBody>
      </p:sp>
      <p:pic>
        <p:nvPicPr>
          <p:cNvPr id="4" name="Picture 3" descr="A screenshot of a cell phone&#10;&#10;Description automatically generated">
            <a:extLst>
              <a:ext uri="{FF2B5EF4-FFF2-40B4-BE49-F238E27FC236}">
                <a16:creationId xmlns:a16="http://schemas.microsoft.com/office/drawing/2014/main" id="{FBC169DC-68EC-445C-BC9F-43B79ADA80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6987" y="431572"/>
            <a:ext cx="7447109" cy="4654443"/>
          </a:xfrm>
          <a:prstGeom prst="rect">
            <a:avLst/>
          </a:prstGeom>
        </p:spPr>
      </p:pic>
    </p:spTree>
    <p:extLst>
      <p:ext uri="{BB962C8B-B14F-4D97-AF65-F5344CB8AC3E}">
        <p14:creationId xmlns:p14="http://schemas.microsoft.com/office/powerpoint/2010/main" val="40947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8554225" y="429732"/>
            <a:ext cx="3026517" cy="364227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Growth in world soybean crush is expected to continue slower growth rate in 2019/20, which could limit supply as demand from trade grows.</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USDA is projecting strong exports, but The Jacobsen is predicting a decline in shipments from major exporting countries.</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Industrial consumption growth is slowing, but growth in food use is accelerating. </a:t>
            </a:r>
          </a:p>
          <a:p>
            <a:pPr marL="457200"/>
            <a:endParaRPr lang="en-US" sz="2150" dirty="0">
              <a:latin typeface="Century Gothic" charset="0"/>
              <a:ea typeface="Century Gothic" charset="0"/>
              <a:cs typeface="Century Gothic" charset="0"/>
            </a:endParaRPr>
          </a:p>
        </p:txBody>
      </p:sp>
      <p:pic>
        <p:nvPicPr>
          <p:cNvPr id="4" name="Picture 3" descr="A screenshot of a cell phone&#10;&#10;Description automatically generated">
            <a:extLst>
              <a:ext uri="{FF2B5EF4-FFF2-40B4-BE49-F238E27FC236}">
                <a16:creationId xmlns:a16="http://schemas.microsoft.com/office/drawing/2014/main" id="{1CD95728-54CE-461A-9700-D0DEAB3F8E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9375" y="429732"/>
            <a:ext cx="7454850" cy="4379175"/>
          </a:xfrm>
          <a:prstGeom prst="rect">
            <a:avLst/>
          </a:prstGeom>
        </p:spPr>
      </p:pic>
    </p:spTree>
    <p:extLst>
      <p:ext uri="{BB962C8B-B14F-4D97-AF65-F5344CB8AC3E}">
        <p14:creationId xmlns:p14="http://schemas.microsoft.com/office/powerpoint/2010/main" val="3790871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1398"/>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9272262" y="901995"/>
            <a:ext cx="2716662" cy="3073662"/>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50000"/>
              <a:buFont typeface="Arial" panose="020B0604020202020204" pitchFamily="34" charset="0"/>
              <a:buChar char="•"/>
            </a:pPr>
            <a:r>
              <a:rPr lang="en-US" sz="1400" dirty="0">
                <a:latin typeface="Century Gothic" charset="0"/>
                <a:ea typeface="Century Gothic" charset="0"/>
                <a:cs typeface="Century Gothic" charset="0"/>
              </a:rPr>
              <a:t>Total vegetable oil inventories are forecast to decline for the third consecutive year and are well down from 2014/15 peak.</a:t>
            </a:r>
          </a:p>
          <a:p>
            <a:pPr>
              <a:buClr>
                <a:srgbClr val="8E9A44"/>
              </a:buClr>
              <a:buSzPct val="150000"/>
            </a:pPr>
            <a:endParaRPr lang="en-US" sz="1400" dirty="0">
              <a:latin typeface="Century Gothic" charset="0"/>
              <a:ea typeface="Century Gothic" charset="0"/>
              <a:cs typeface="Century Gothic" charset="0"/>
            </a:endParaRPr>
          </a:p>
          <a:p>
            <a:pPr marL="231775" indent="-231775">
              <a:buClr>
                <a:srgbClr val="8E9A44"/>
              </a:buClr>
              <a:buSzPct val="150000"/>
              <a:buFont typeface="Arial" panose="020B0604020202020204" pitchFamily="34" charset="0"/>
              <a:buChar char="•"/>
            </a:pPr>
            <a:r>
              <a:rPr lang="en-US" sz="1400" dirty="0">
                <a:latin typeface="Century Gothic" charset="0"/>
                <a:ea typeface="Century Gothic" charset="0"/>
                <a:cs typeface="Century Gothic" charset="0"/>
              </a:rPr>
              <a:t>Growth in food use is driving the tightening world stocks.</a:t>
            </a:r>
          </a:p>
          <a:p>
            <a:pPr>
              <a:buClr>
                <a:srgbClr val="8E9A44"/>
              </a:buClr>
              <a:buSzPct val="150000"/>
            </a:pPr>
            <a:endParaRPr lang="en-US" sz="1400" dirty="0">
              <a:latin typeface="Century Gothic" charset="0"/>
              <a:ea typeface="Century Gothic" charset="0"/>
              <a:cs typeface="Century Gothic" charset="0"/>
            </a:endParaRPr>
          </a:p>
          <a:p>
            <a:pPr marL="231775" indent="-231775">
              <a:buClr>
                <a:srgbClr val="8E9A44"/>
              </a:buClr>
              <a:buSzPct val="150000"/>
              <a:buFont typeface="Arial" panose="020B0604020202020204" pitchFamily="34" charset="0"/>
              <a:buChar char="•"/>
            </a:pPr>
            <a:r>
              <a:rPr lang="en-US" sz="1400" dirty="0">
                <a:latin typeface="Century Gothic" charset="0"/>
                <a:ea typeface="Century Gothic" charset="0"/>
                <a:cs typeface="Century Gothic" charset="0"/>
              </a:rPr>
              <a:t>Growth in industrial use, including biofuel, is growing, but much more slowly than in recent years. </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EAC6BDFB-FDE6-4929-96E0-34A897E751DE}"/>
              </a:ext>
            </a:extLst>
          </p:cNvPr>
          <p:cNvPicPr>
            <a:picLocks noChangeAspect="1"/>
          </p:cNvPicPr>
          <p:nvPr/>
        </p:nvPicPr>
        <p:blipFill>
          <a:blip r:embed="rId4"/>
          <a:stretch>
            <a:fillRect/>
          </a:stretch>
        </p:blipFill>
        <p:spPr>
          <a:xfrm>
            <a:off x="927685" y="431573"/>
            <a:ext cx="8344577" cy="4729308"/>
          </a:xfrm>
          <a:prstGeom prst="rect">
            <a:avLst/>
          </a:prstGeom>
        </p:spPr>
      </p:pic>
    </p:spTree>
    <p:extLst>
      <p:ext uri="{BB962C8B-B14F-4D97-AF65-F5344CB8AC3E}">
        <p14:creationId xmlns:p14="http://schemas.microsoft.com/office/powerpoint/2010/main" val="4154006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2" name="Rectangle 1">
            <a:extLst>
              <a:ext uri="{FF2B5EF4-FFF2-40B4-BE49-F238E27FC236}">
                <a16:creationId xmlns:a16="http://schemas.microsoft.com/office/drawing/2014/main" id="{A229F891-6F1E-4E7F-9F35-E86C305B339A}"/>
              </a:ext>
            </a:extLst>
          </p:cNvPr>
          <p:cNvSpPr/>
          <p:nvPr/>
        </p:nvSpPr>
        <p:spPr>
          <a:xfrm>
            <a:off x="9314689" y="818645"/>
            <a:ext cx="2621279" cy="3754874"/>
          </a:xfrm>
          <a:prstGeom prst="rect">
            <a:avLst/>
          </a:prstGeom>
        </p:spPr>
        <p:txBody>
          <a:bodyPr wrap="square">
            <a:spAutoFit/>
          </a:bodyPr>
          <a:lstStyle/>
          <a:p>
            <a:pPr marL="231775" indent="-231775">
              <a:buClr>
                <a:srgbClr val="8E9A44"/>
              </a:buClr>
              <a:buSzPct val="150000"/>
              <a:buFont typeface="Arial" panose="020B0604020202020204" pitchFamily="34" charset="0"/>
              <a:buChar char="•"/>
            </a:pPr>
            <a:r>
              <a:rPr lang="en-US" sz="1400" dirty="0">
                <a:latin typeface="Century Gothic" charset="0"/>
                <a:ea typeface="Century Gothic" charset="0"/>
                <a:cs typeface="Century Gothic" charset="0"/>
              </a:rPr>
              <a:t>Growth in food use is driving the tightening world stocks.</a:t>
            </a:r>
          </a:p>
          <a:p>
            <a:pPr>
              <a:buClr>
                <a:srgbClr val="8E9A44"/>
              </a:buClr>
              <a:buSzPct val="150000"/>
            </a:pPr>
            <a:endParaRPr lang="en-US" sz="1400" dirty="0">
              <a:latin typeface="Century Gothic" charset="0"/>
              <a:ea typeface="Century Gothic" charset="0"/>
              <a:cs typeface="Century Gothic" charset="0"/>
            </a:endParaRPr>
          </a:p>
          <a:p>
            <a:pPr marL="231775" indent="-231775">
              <a:buClr>
                <a:srgbClr val="8E9A44"/>
              </a:buClr>
              <a:buSzPct val="150000"/>
              <a:buFont typeface="Arial" panose="020B0604020202020204" pitchFamily="34" charset="0"/>
              <a:buChar char="•"/>
            </a:pPr>
            <a:r>
              <a:rPr lang="en-US" sz="1400" dirty="0">
                <a:latin typeface="Century Gothic" charset="0"/>
                <a:ea typeface="Century Gothic" charset="0"/>
                <a:cs typeface="Century Gothic" charset="0"/>
              </a:rPr>
              <a:t>Growth in industrial use, including biofuel, is growing, but much more slowly than in recent years. </a:t>
            </a:r>
          </a:p>
          <a:p>
            <a:pPr>
              <a:buClr>
                <a:srgbClr val="8E9A44"/>
              </a:buClr>
              <a:buSzPct val="150000"/>
            </a:pPr>
            <a:endParaRPr lang="en-US" sz="1400" dirty="0">
              <a:latin typeface="Century Gothic" charset="0"/>
              <a:ea typeface="Century Gothic" charset="0"/>
              <a:cs typeface="Century Gothic" charset="0"/>
            </a:endParaRPr>
          </a:p>
          <a:p>
            <a:pPr marL="231775" indent="-231775">
              <a:buClr>
                <a:srgbClr val="8E9A44"/>
              </a:buClr>
              <a:buSzPct val="150000"/>
              <a:buFont typeface="Arial" panose="020B0604020202020204" pitchFamily="34" charset="0"/>
              <a:buChar char="•"/>
            </a:pPr>
            <a:r>
              <a:rPr lang="en-US" sz="1400" dirty="0">
                <a:latin typeface="Century Gothic" charset="0"/>
                <a:ea typeface="Century Gothic" charset="0"/>
                <a:cs typeface="Century Gothic" charset="0"/>
              </a:rPr>
              <a:t>Despite the slowdown in industrial use it has grown about two percent faster over the last 10 years than production and will increasingly weigh on inventory levels.</a:t>
            </a:r>
          </a:p>
        </p:txBody>
      </p:sp>
      <p:pic>
        <p:nvPicPr>
          <p:cNvPr id="6" name="Picture 5">
            <a:extLst>
              <a:ext uri="{FF2B5EF4-FFF2-40B4-BE49-F238E27FC236}">
                <a16:creationId xmlns:a16="http://schemas.microsoft.com/office/drawing/2014/main" id="{84EB2AC9-0584-428B-8054-EC3A2AAA4307}"/>
              </a:ext>
            </a:extLst>
          </p:cNvPr>
          <p:cNvPicPr>
            <a:picLocks noChangeAspect="1"/>
          </p:cNvPicPr>
          <p:nvPr/>
        </p:nvPicPr>
        <p:blipFill>
          <a:blip r:embed="rId4"/>
          <a:stretch>
            <a:fillRect/>
          </a:stretch>
        </p:blipFill>
        <p:spPr>
          <a:xfrm>
            <a:off x="912928" y="431572"/>
            <a:ext cx="8446521" cy="4784734"/>
          </a:xfrm>
          <a:prstGeom prst="rect">
            <a:avLst/>
          </a:prstGeom>
        </p:spPr>
      </p:pic>
    </p:spTree>
    <p:extLst>
      <p:ext uri="{BB962C8B-B14F-4D97-AF65-F5344CB8AC3E}">
        <p14:creationId xmlns:p14="http://schemas.microsoft.com/office/powerpoint/2010/main" val="3425500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flipV="1">
            <a:off x="719939" y="6154574"/>
            <a:ext cx="11472061" cy="13836"/>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2" name="Shape 497">
            <a:extLst>
              <a:ext uri="{FF2B5EF4-FFF2-40B4-BE49-F238E27FC236}">
                <a16:creationId xmlns:a16="http://schemas.microsoft.com/office/drawing/2014/main" id="{BF7ACA6E-F731-4F04-9BA0-BC9EB720F7C8}"/>
              </a:ext>
            </a:extLst>
          </p:cNvPr>
          <p:cNvSpPr/>
          <p:nvPr/>
        </p:nvSpPr>
        <p:spPr>
          <a:xfrm>
            <a:off x="9375838" y="887128"/>
            <a:ext cx="2706434" cy="4922630"/>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Chinese imports were mostly flat for the last eight years but are expected to grow sharply over the next two years. Ultimately whether this is where Chinese imports start to accelerate will depend on how quickly they recover from ASF.</a:t>
            </a: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Falling stocks drove Chinese vegetable oil futures almost 15 percent higher from late July to early August.</a:t>
            </a: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Indian production is flat over the last 10 years just below six million tonnes but domestic consumption, mostly food usage, has almost doubled to 23 million.</a:t>
            </a:r>
          </a:p>
          <a:p>
            <a:pPr>
              <a:buClr>
                <a:srgbClr val="8E9A44"/>
              </a:buClr>
              <a:buSzPct val="125000"/>
            </a:pPr>
            <a:r>
              <a:rPr lang="en-US" sz="1400" dirty="0">
                <a:latin typeface="Century Gothic" charset="0"/>
                <a:ea typeface="Century Gothic" charset="0"/>
                <a:cs typeface="Century Gothic" charset="0"/>
              </a:rPr>
              <a:t> </a:t>
            </a:r>
          </a:p>
          <a:p>
            <a:pPr marL="457200"/>
            <a:endParaRPr lang="en-US" sz="2150" dirty="0">
              <a:latin typeface="Century Gothic" charset="0"/>
              <a:ea typeface="Century Gothic" charset="0"/>
              <a:cs typeface="Century Gothic" charset="0"/>
            </a:endParaRPr>
          </a:p>
        </p:txBody>
      </p:sp>
      <p:pic>
        <p:nvPicPr>
          <p:cNvPr id="4" name="Picture 3">
            <a:extLst>
              <a:ext uri="{FF2B5EF4-FFF2-40B4-BE49-F238E27FC236}">
                <a16:creationId xmlns:a16="http://schemas.microsoft.com/office/drawing/2014/main" id="{8041D789-FEEC-4CD2-BC4B-1DF64A7D8A5A}"/>
              </a:ext>
            </a:extLst>
          </p:cNvPr>
          <p:cNvPicPr>
            <a:picLocks noChangeAspect="1"/>
          </p:cNvPicPr>
          <p:nvPr/>
        </p:nvPicPr>
        <p:blipFill>
          <a:blip r:embed="rId4"/>
          <a:stretch>
            <a:fillRect/>
          </a:stretch>
        </p:blipFill>
        <p:spPr>
          <a:xfrm>
            <a:off x="1159321" y="431572"/>
            <a:ext cx="8216517" cy="4654443"/>
          </a:xfrm>
          <a:prstGeom prst="rect">
            <a:avLst/>
          </a:prstGeom>
        </p:spPr>
      </p:pic>
    </p:spTree>
    <p:extLst>
      <p:ext uri="{BB962C8B-B14F-4D97-AF65-F5344CB8AC3E}">
        <p14:creationId xmlns:p14="http://schemas.microsoft.com/office/powerpoint/2010/main" val="4008916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9385745" y="345847"/>
            <a:ext cx="2719109" cy="653460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European rapeseed production has declined by about 23 percent over the last two years. Production in 2019 was the lowest since 2006.</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European Union likely to increase imports of oilseeds to offset rapeseed crop losses.</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European Union oilseed crush is forecast to fall to the lowest level in the last three years following summer drought.</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Despite the decline in crush, vegetable oil imports are not expected to increase substantially due to decreasing industrial use.</a:t>
            </a: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742950" indent="-285750">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3" name="Picture 2">
            <a:extLst>
              <a:ext uri="{FF2B5EF4-FFF2-40B4-BE49-F238E27FC236}">
                <a16:creationId xmlns:a16="http://schemas.microsoft.com/office/drawing/2014/main" id="{E1A29528-00B0-4879-B614-4E81476E67C4}"/>
              </a:ext>
            </a:extLst>
          </p:cNvPr>
          <p:cNvPicPr>
            <a:picLocks noChangeAspect="1"/>
          </p:cNvPicPr>
          <p:nvPr/>
        </p:nvPicPr>
        <p:blipFill>
          <a:blip r:embed="rId4"/>
          <a:stretch>
            <a:fillRect/>
          </a:stretch>
        </p:blipFill>
        <p:spPr>
          <a:xfrm>
            <a:off x="1008477" y="431573"/>
            <a:ext cx="8377268" cy="4745504"/>
          </a:xfrm>
          <a:prstGeom prst="rect">
            <a:avLst/>
          </a:prstGeom>
        </p:spPr>
      </p:pic>
    </p:spTree>
    <p:extLst>
      <p:ext uri="{BB962C8B-B14F-4D97-AF65-F5344CB8AC3E}">
        <p14:creationId xmlns:p14="http://schemas.microsoft.com/office/powerpoint/2010/main" val="23477124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7" name="Shape 497"/>
          <p:cNvSpPr/>
          <p:nvPr/>
        </p:nvSpPr>
        <p:spPr>
          <a:xfrm>
            <a:off x="9250848" y="362774"/>
            <a:ext cx="2941152" cy="477874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Canadian canola production is expected to decline by at least five percent due to harvest delays due to recent weather.</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The bulk of the decline will reduce canola exports, which are forecast to fall to the lowest level since 2014/15.</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Canadian crush is expected to remain steady, even if the crop is smaller than expected.</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Canola oil exports are also predicted to remain relatively unchanged, but growing biodiesel production is forecast to draw stocks down to the lowest level since 2013/14.</a:t>
            </a:r>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4" name="Picture 3" descr="A screenshot of a cell phone&#10;&#10;Description automatically generated">
            <a:extLst>
              <a:ext uri="{FF2B5EF4-FFF2-40B4-BE49-F238E27FC236}">
                <a16:creationId xmlns:a16="http://schemas.microsoft.com/office/drawing/2014/main" id="{1DB0156A-ED93-4EF3-8719-8414486AA7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0120" y="478189"/>
            <a:ext cx="8120728" cy="4392005"/>
          </a:xfrm>
          <a:prstGeom prst="rect">
            <a:avLst/>
          </a:prstGeom>
        </p:spPr>
      </p:pic>
    </p:spTree>
    <p:extLst>
      <p:ext uri="{BB962C8B-B14F-4D97-AF65-F5344CB8AC3E}">
        <p14:creationId xmlns:p14="http://schemas.microsoft.com/office/powerpoint/2010/main" val="1157970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9241152" y="1416648"/>
            <a:ext cx="2719199" cy="2790508"/>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Rapeseed and sunflower seed production in the Black Sea region will provide some offset to the bullish world fundamentals. </a:t>
            </a:r>
          </a:p>
          <a:p>
            <a:pPr>
              <a:buClr>
                <a:srgbClr val="8E9A44"/>
              </a:buClr>
              <a:buSzPct val="125000"/>
            </a:pPr>
            <a:endParaRPr lang="en-US" sz="140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p:txBody>
      </p:sp>
      <p:pic>
        <p:nvPicPr>
          <p:cNvPr id="3" name="Picture 2">
            <a:extLst>
              <a:ext uri="{FF2B5EF4-FFF2-40B4-BE49-F238E27FC236}">
                <a16:creationId xmlns:a16="http://schemas.microsoft.com/office/drawing/2014/main" id="{B3AF9622-B296-496D-8FC2-34490F7DC813}"/>
              </a:ext>
            </a:extLst>
          </p:cNvPr>
          <p:cNvPicPr>
            <a:picLocks noChangeAspect="1"/>
          </p:cNvPicPr>
          <p:nvPr/>
        </p:nvPicPr>
        <p:blipFill>
          <a:blip r:embed="rId4"/>
          <a:stretch>
            <a:fillRect/>
          </a:stretch>
        </p:blipFill>
        <p:spPr>
          <a:xfrm>
            <a:off x="1093820" y="625037"/>
            <a:ext cx="8147333" cy="4615252"/>
          </a:xfrm>
          <a:prstGeom prst="rect">
            <a:avLst/>
          </a:prstGeom>
        </p:spPr>
      </p:pic>
    </p:spTree>
    <p:extLst>
      <p:ext uri="{BB962C8B-B14F-4D97-AF65-F5344CB8AC3E}">
        <p14:creationId xmlns:p14="http://schemas.microsoft.com/office/powerpoint/2010/main" val="417441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9426067" y="1158123"/>
            <a:ext cx="2534284" cy="3307572"/>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Malaysian palm oil production is forecast to remain stable in 2019/20 as a decline in yield offsets a small increase in mature area.</a:t>
            </a:r>
          </a:p>
          <a:p>
            <a:pPr>
              <a:buClr>
                <a:srgbClr val="8E9A44"/>
              </a:buClr>
              <a:buSzPct val="125000"/>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Dryness earlier in the year and in recent months may reduce yields beyond The Jacobsen’s forecast. However, if rainfall returns to normal levels, yields could be substantially above The Jacobsen’s expectation.</a:t>
            </a:r>
          </a:p>
        </p:txBody>
      </p:sp>
      <p:pic>
        <p:nvPicPr>
          <p:cNvPr id="2" name="Picture 1">
            <a:extLst>
              <a:ext uri="{FF2B5EF4-FFF2-40B4-BE49-F238E27FC236}">
                <a16:creationId xmlns:a16="http://schemas.microsoft.com/office/drawing/2014/main" id="{EF1A48FC-9BA8-4F9B-957F-60DE455648EB}"/>
              </a:ext>
            </a:extLst>
          </p:cNvPr>
          <p:cNvPicPr>
            <a:picLocks noChangeAspect="1"/>
          </p:cNvPicPr>
          <p:nvPr/>
        </p:nvPicPr>
        <p:blipFill>
          <a:blip r:embed="rId4"/>
          <a:stretch>
            <a:fillRect/>
          </a:stretch>
        </p:blipFill>
        <p:spPr>
          <a:xfrm>
            <a:off x="1108456" y="504596"/>
            <a:ext cx="8317611" cy="4711710"/>
          </a:xfrm>
          <a:prstGeom prst="rect">
            <a:avLst/>
          </a:prstGeom>
        </p:spPr>
      </p:pic>
    </p:spTree>
    <p:extLst>
      <p:ext uri="{BB962C8B-B14F-4D97-AF65-F5344CB8AC3E}">
        <p14:creationId xmlns:p14="http://schemas.microsoft.com/office/powerpoint/2010/main" val="2036013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9367128" y="887279"/>
            <a:ext cx="2739527" cy="384925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Palm oil exports have been volatile as the Indian government has reduced and raised tariff rates on Malaysian palm oil imports.</a:t>
            </a: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Current tensions have cut off exports to India, but recent progress in trade negotiations could break the impasse.</a:t>
            </a: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Malaysian shipments to China have increased dramatically over the last year and could offset any decline in shipments to India.</a:t>
            </a:r>
          </a:p>
        </p:txBody>
      </p:sp>
      <p:pic>
        <p:nvPicPr>
          <p:cNvPr id="3" name="Picture 2">
            <a:extLst>
              <a:ext uri="{FF2B5EF4-FFF2-40B4-BE49-F238E27FC236}">
                <a16:creationId xmlns:a16="http://schemas.microsoft.com/office/drawing/2014/main" id="{CBAA5DC9-F3C8-4071-95AF-35204CB17805}"/>
              </a:ext>
            </a:extLst>
          </p:cNvPr>
          <p:cNvPicPr>
            <a:picLocks noChangeAspect="1"/>
          </p:cNvPicPr>
          <p:nvPr/>
        </p:nvPicPr>
        <p:blipFill>
          <a:blip r:embed="rId4"/>
          <a:stretch>
            <a:fillRect/>
          </a:stretch>
        </p:blipFill>
        <p:spPr>
          <a:xfrm>
            <a:off x="1118205" y="431572"/>
            <a:ext cx="8188488" cy="4638565"/>
          </a:xfrm>
          <a:prstGeom prst="rect">
            <a:avLst/>
          </a:prstGeom>
        </p:spPr>
      </p:pic>
    </p:spTree>
    <p:extLst>
      <p:ext uri="{BB962C8B-B14F-4D97-AF65-F5344CB8AC3E}">
        <p14:creationId xmlns:p14="http://schemas.microsoft.com/office/powerpoint/2010/main" val="1655755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WORLD VEGETABLE OILS</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9367128" y="984228"/>
            <a:ext cx="2739527" cy="3655360"/>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Stocks are forecast to fall to a three-year low and could drop below two million tonnes in early summer.</a:t>
            </a: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European Union’s stance on palm oil use in biofuel production remains a substantial risk to The Jacobsen’s stocks outlook.</a:t>
            </a: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Palm oil shipments from Indonesia and Malaysia will need to continue to grow in the coming years to meet the growing demand from India and potentially China.</a:t>
            </a:r>
          </a:p>
        </p:txBody>
      </p:sp>
      <p:pic>
        <p:nvPicPr>
          <p:cNvPr id="2" name="Picture 1">
            <a:extLst>
              <a:ext uri="{FF2B5EF4-FFF2-40B4-BE49-F238E27FC236}">
                <a16:creationId xmlns:a16="http://schemas.microsoft.com/office/drawing/2014/main" id="{A0808A96-2348-4E76-A2AA-D30DD0C958E5}"/>
              </a:ext>
            </a:extLst>
          </p:cNvPr>
          <p:cNvPicPr>
            <a:picLocks noChangeAspect="1"/>
          </p:cNvPicPr>
          <p:nvPr/>
        </p:nvPicPr>
        <p:blipFill>
          <a:blip r:embed="rId4"/>
          <a:stretch>
            <a:fillRect/>
          </a:stretch>
        </p:blipFill>
        <p:spPr>
          <a:xfrm>
            <a:off x="1108456" y="431572"/>
            <a:ext cx="8258673" cy="4678323"/>
          </a:xfrm>
          <a:prstGeom prst="rect">
            <a:avLst/>
          </a:prstGeom>
        </p:spPr>
      </p:pic>
    </p:spTree>
    <p:extLst>
      <p:ext uri="{BB962C8B-B14F-4D97-AF65-F5344CB8AC3E}">
        <p14:creationId xmlns:p14="http://schemas.microsoft.com/office/powerpoint/2010/main" val="809639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SOYBEAN OIL FORECAST</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9367129" y="111033"/>
            <a:ext cx="2824870" cy="6742359"/>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171450">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Soybean oil futures are forecast to remain well supported even if biomass-based diesel production continues to slow.</a:t>
            </a:r>
          </a:p>
          <a:p>
            <a:pPr marL="60325">
              <a:buClr>
                <a:srgbClr val="8E9A44"/>
              </a:buClr>
              <a:buSzPct val="125000"/>
            </a:pPr>
            <a:endParaRPr lang="en-US" sz="1400" dirty="0">
              <a:latin typeface="Century Gothic" charset="0"/>
              <a:ea typeface="Century Gothic" charset="0"/>
              <a:cs typeface="Century Gothic" charset="0"/>
            </a:endParaRPr>
          </a:p>
          <a:p>
            <a:pPr marL="231775" indent="-171450">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Vegetable oil shortages in China and growing demand in India could provide additional exports, but soybean oil will need to compete with palm oil.</a:t>
            </a:r>
          </a:p>
          <a:p>
            <a:pPr marL="60325">
              <a:buClr>
                <a:srgbClr val="8E9A44"/>
              </a:buClr>
              <a:buSzPct val="125000"/>
            </a:pPr>
            <a:endParaRPr lang="en-US" sz="1400" dirty="0">
              <a:latin typeface="Century Gothic" charset="0"/>
              <a:ea typeface="Century Gothic" charset="0"/>
              <a:cs typeface="Century Gothic" charset="0"/>
            </a:endParaRPr>
          </a:p>
          <a:p>
            <a:pPr marL="231775" indent="-171450">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If BTC is restored, there will be additional upside price risk.</a:t>
            </a:r>
          </a:p>
          <a:p>
            <a:pPr marL="60325">
              <a:buClr>
                <a:srgbClr val="8E9A44"/>
              </a:buClr>
              <a:buSzPct val="125000"/>
            </a:pPr>
            <a:endParaRPr lang="en-US" sz="1400" dirty="0">
              <a:latin typeface="Century Gothic" charset="0"/>
              <a:ea typeface="Century Gothic" charset="0"/>
              <a:cs typeface="Century Gothic" charset="0"/>
            </a:endParaRPr>
          </a:p>
          <a:p>
            <a:pPr marL="231775" indent="-171450">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Significant renewable diesel capacity coming online in 2021 - 2023 will provide longer term support and, in the most bullish case, could ultimately drive oilshare above 50 percent. </a:t>
            </a:r>
          </a:p>
          <a:p>
            <a:pPr>
              <a:buClr>
                <a:srgbClr val="8E9A44"/>
              </a:buClr>
              <a:buSzPct val="125000"/>
            </a:pPr>
            <a:endParaRPr lang="en-US" sz="140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a:p>
            <a:pPr marL="457200"/>
            <a:endParaRPr lang="en-US" sz="2150" dirty="0">
              <a:latin typeface="Century Gothic" charset="0"/>
              <a:ea typeface="Century Gothic" charset="0"/>
              <a:cs typeface="Century Gothic" charset="0"/>
            </a:endParaRPr>
          </a:p>
        </p:txBody>
      </p:sp>
      <p:pic>
        <p:nvPicPr>
          <p:cNvPr id="2" name="Picture 1">
            <a:extLst>
              <a:ext uri="{FF2B5EF4-FFF2-40B4-BE49-F238E27FC236}">
                <a16:creationId xmlns:a16="http://schemas.microsoft.com/office/drawing/2014/main" id="{36817256-6914-46B6-A8F2-A83E7459F137}"/>
              </a:ext>
            </a:extLst>
          </p:cNvPr>
          <p:cNvPicPr>
            <a:picLocks noChangeAspect="1"/>
          </p:cNvPicPr>
          <p:nvPr/>
        </p:nvPicPr>
        <p:blipFill>
          <a:blip r:embed="rId4"/>
          <a:stretch>
            <a:fillRect/>
          </a:stretch>
        </p:blipFill>
        <p:spPr>
          <a:xfrm>
            <a:off x="1108456" y="431572"/>
            <a:ext cx="8258673" cy="4678323"/>
          </a:xfrm>
          <a:prstGeom prst="rect">
            <a:avLst/>
          </a:prstGeom>
        </p:spPr>
      </p:pic>
    </p:spTree>
    <p:extLst>
      <p:ext uri="{BB962C8B-B14F-4D97-AF65-F5344CB8AC3E}">
        <p14:creationId xmlns:p14="http://schemas.microsoft.com/office/powerpoint/2010/main" val="141207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Shape 489"/>
          <p:cNvSpPr>
            <a:spLocks noGrp="1"/>
          </p:cNvSpPr>
          <p:nvPr>
            <p:ph type="title" idx="4294967295"/>
          </p:nvPr>
        </p:nvSpPr>
        <p:spPr>
          <a:xfrm>
            <a:off x="835928" y="5216306"/>
            <a:ext cx="11356072" cy="912873"/>
          </a:xfrm>
          <a:prstGeom prst="rect">
            <a:avLst/>
          </a:prstGeom>
        </p:spPr>
        <p:txBody>
          <a:bodyPr vert="horz" lIns="22860" tIns="22860" rIns="22860" bIns="22860" rtlCol="0" anchor="ctr">
            <a:noAutofit/>
          </a:bodyPr>
          <a:lstStyle>
            <a:lvl1pPr algn="r" defTabSz="425195">
              <a:defRPr sz="9300">
                <a:solidFill>
                  <a:srgbClr val="253A49"/>
                </a:solidFill>
                <a:latin typeface="AXIS"/>
                <a:ea typeface="AXIS"/>
                <a:cs typeface="AXIS"/>
                <a:sym typeface="AXIS"/>
              </a:defRPr>
            </a:lvl1pPr>
          </a:lstStyle>
          <a:p>
            <a:pPr algn="l"/>
            <a:r>
              <a:rPr lang="en-US" sz="8300" dirty="0">
                <a:solidFill>
                  <a:schemeClr val="tx1">
                    <a:lumMod val="50000"/>
                    <a:lumOff val="50000"/>
                  </a:schemeClr>
                </a:solidFill>
                <a:latin typeface="Franklin Gothic Demi Cond" charset="0"/>
                <a:ea typeface="Franklin Gothic Demi Cond" charset="0"/>
                <a:cs typeface="Franklin Gothic Demi Cond" charset="0"/>
              </a:rPr>
              <a:t>PALM OIL FORECAST</a:t>
            </a:r>
            <a:endParaRPr sz="8300" dirty="0">
              <a:solidFill>
                <a:schemeClr val="tx1">
                  <a:lumMod val="50000"/>
                  <a:lumOff val="50000"/>
                </a:schemeClr>
              </a:solidFill>
              <a:latin typeface="Franklin Gothic Demi Cond" charset="0"/>
              <a:ea typeface="Franklin Gothic Demi Cond" charset="0"/>
              <a:cs typeface="Franklin Gothic Demi Cond" charset="0"/>
            </a:endParaRPr>
          </a:p>
        </p:txBody>
      </p:sp>
      <p:sp>
        <p:nvSpPr>
          <p:cNvPr id="490" name="Shape 490"/>
          <p:cNvSpPr/>
          <p:nvPr/>
        </p:nvSpPr>
        <p:spPr>
          <a:xfrm>
            <a:off x="719939" y="6168409"/>
            <a:ext cx="11472061" cy="23881"/>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1" name="Shape 491"/>
          <p:cNvSpPr/>
          <p:nvPr/>
        </p:nvSpPr>
        <p:spPr>
          <a:xfrm>
            <a:off x="691362" y="504596"/>
            <a:ext cx="28576" cy="5687694"/>
          </a:xfrm>
          <a:prstGeom prst="line">
            <a:avLst/>
          </a:prstGeom>
          <a:ln w="114300">
            <a:solidFill>
              <a:srgbClr val="243A48"/>
            </a:solidFill>
            <a:miter lim="400000"/>
          </a:ln>
        </p:spPr>
        <p:txBody>
          <a:bodyPr lIns="25400" tIns="25400" rIns="25400" bIns="25400" anchor="ctr"/>
          <a:lstStyle/>
          <a:p>
            <a:pPr>
              <a:defRPr sz="3200"/>
            </a:pPr>
            <a:endParaRPr sz="1600"/>
          </a:p>
        </p:txBody>
      </p:sp>
      <p:sp>
        <p:nvSpPr>
          <p:cNvPr id="492" name="Shape 492"/>
          <p:cNvSpPr/>
          <p:nvPr/>
        </p:nvSpPr>
        <p:spPr>
          <a:xfrm>
            <a:off x="608923" y="345847"/>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4" name="Shape 494"/>
          <p:cNvSpPr/>
          <p:nvPr/>
        </p:nvSpPr>
        <p:spPr>
          <a:xfrm>
            <a:off x="608923" y="2904878"/>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499" name="Shape 499"/>
          <p:cNvSpPr/>
          <p:nvPr/>
        </p:nvSpPr>
        <p:spPr>
          <a:xfrm>
            <a:off x="608923" y="1339692"/>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pic>
        <p:nvPicPr>
          <p:cNvPr id="17" name="pasted-image.png"/>
          <p:cNvPicPr>
            <a:picLocks noChangeAspect="1"/>
          </p:cNvPicPr>
          <p:nvPr/>
        </p:nvPicPr>
        <p:blipFill>
          <a:blip r:embed="rId3"/>
          <a:stretch>
            <a:fillRect/>
          </a:stretch>
        </p:blipFill>
        <p:spPr>
          <a:xfrm>
            <a:off x="150362" y="6298701"/>
            <a:ext cx="1353784" cy="394571"/>
          </a:xfrm>
          <a:prstGeom prst="rect">
            <a:avLst/>
          </a:prstGeom>
          <a:ln w="12700">
            <a:miter lim="400000"/>
          </a:ln>
        </p:spPr>
      </p:pic>
      <p:sp>
        <p:nvSpPr>
          <p:cNvPr id="10" name="Shape 494"/>
          <p:cNvSpPr/>
          <p:nvPr/>
        </p:nvSpPr>
        <p:spPr>
          <a:xfrm>
            <a:off x="625487" y="3855723"/>
            <a:ext cx="171451" cy="171451"/>
          </a:xfrm>
          <a:prstGeom prst="rect">
            <a:avLst/>
          </a:prstGeom>
          <a:solidFill>
            <a:srgbClr val="FFFFFF"/>
          </a:solidFill>
          <a:ln w="50800">
            <a:solidFill>
              <a:srgbClr val="243A48"/>
            </a:solidFill>
            <a:miter lim="400000"/>
          </a:ln>
        </p:spPr>
        <p:txBody>
          <a:bodyPr lIns="25400" tIns="25400" rIns="25400" bIns="25400" anchor="ctr"/>
          <a:lstStyle/>
          <a:p>
            <a:pPr>
              <a:defRPr sz="3200">
                <a:solidFill>
                  <a:srgbClr val="FFFFFF"/>
                </a:solidFill>
              </a:defRPr>
            </a:pPr>
            <a:endParaRPr sz="1600"/>
          </a:p>
        </p:txBody>
      </p:sp>
      <p:sp>
        <p:nvSpPr>
          <p:cNvPr id="14" name="Shape 497">
            <a:extLst>
              <a:ext uri="{FF2B5EF4-FFF2-40B4-BE49-F238E27FC236}">
                <a16:creationId xmlns:a16="http://schemas.microsoft.com/office/drawing/2014/main" id="{B2277C6E-EB67-4A49-9966-AB6F93DE915E}"/>
              </a:ext>
            </a:extLst>
          </p:cNvPr>
          <p:cNvSpPr/>
          <p:nvPr/>
        </p:nvSpPr>
        <p:spPr>
          <a:xfrm>
            <a:off x="9554977" y="913501"/>
            <a:ext cx="2490719" cy="3113673"/>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lgn="l" defTabSz="457200">
              <a:lnSpc>
                <a:spcPct val="90000"/>
              </a:lnSpc>
              <a:spcBef>
                <a:spcPts val="600"/>
              </a:spcBef>
              <a:buClr>
                <a:srgbClr val="65A1C1"/>
              </a:buClr>
              <a:buFont typeface="Lucida Grande"/>
              <a:defRPr sz="5300">
                <a:solidFill>
                  <a:srgbClr val="53585F"/>
                </a:solidFill>
                <a:latin typeface="Futura (Light)"/>
                <a:ea typeface="Futura (Light)"/>
                <a:cs typeface="Futura (Light)"/>
                <a:sym typeface="Futura (Light)"/>
              </a:defRPr>
            </a:lvl1pPr>
          </a:lstStyle>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Palm oil is expected to benefit from rising world vegetable oil prices, but there are risks that could drive the spread between palm oil and soybean oil to the upper end of the historical range.</a:t>
            </a:r>
          </a:p>
          <a:p>
            <a:pPr marL="231775" indent="-231775">
              <a:buClr>
                <a:srgbClr val="8E9A44"/>
              </a:buClr>
              <a:buSzPct val="125000"/>
              <a:buFont typeface="Arial" panose="020B0604020202020204" pitchFamily="34" charset="0"/>
              <a:buChar char="•"/>
            </a:pPr>
            <a:endParaRPr lang="en-US" sz="1400" dirty="0">
              <a:latin typeface="Century Gothic" charset="0"/>
              <a:ea typeface="Century Gothic" charset="0"/>
              <a:cs typeface="Century Gothic" charset="0"/>
            </a:endParaRPr>
          </a:p>
          <a:p>
            <a:pPr marL="231775" indent="-231775">
              <a:buClr>
                <a:srgbClr val="8E9A44"/>
              </a:buClr>
              <a:buSzPct val="125000"/>
              <a:buFont typeface="Arial" panose="020B0604020202020204" pitchFamily="34" charset="0"/>
              <a:buChar char="•"/>
            </a:pPr>
            <a:r>
              <a:rPr lang="en-US" sz="1400" dirty="0">
                <a:latin typeface="Century Gothic" charset="0"/>
                <a:ea typeface="Century Gothic" charset="0"/>
                <a:cs typeface="Century Gothic" charset="0"/>
              </a:rPr>
              <a:t>Weather conditions could provide additional support for prices if drier-than-normal conditions continue into next year.</a:t>
            </a:r>
          </a:p>
        </p:txBody>
      </p:sp>
      <p:pic>
        <p:nvPicPr>
          <p:cNvPr id="2" name="Picture 1">
            <a:extLst>
              <a:ext uri="{FF2B5EF4-FFF2-40B4-BE49-F238E27FC236}">
                <a16:creationId xmlns:a16="http://schemas.microsoft.com/office/drawing/2014/main" id="{650D1EF0-51EE-4285-9FFE-F2E598EAE903}"/>
              </a:ext>
            </a:extLst>
          </p:cNvPr>
          <p:cNvPicPr>
            <a:picLocks noChangeAspect="1"/>
          </p:cNvPicPr>
          <p:nvPr/>
        </p:nvPicPr>
        <p:blipFill>
          <a:blip r:embed="rId4"/>
          <a:stretch>
            <a:fillRect/>
          </a:stretch>
        </p:blipFill>
        <p:spPr>
          <a:xfrm>
            <a:off x="1108456" y="431572"/>
            <a:ext cx="8446521" cy="4784734"/>
          </a:xfrm>
          <a:prstGeom prst="rect">
            <a:avLst/>
          </a:prstGeom>
        </p:spPr>
      </p:pic>
    </p:spTree>
    <p:extLst>
      <p:ext uri="{BB962C8B-B14F-4D97-AF65-F5344CB8AC3E}">
        <p14:creationId xmlns:p14="http://schemas.microsoft.com/office/powerpoint/2010/main" val="3130261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1310</TotalTime>
  <Words>1414</Words>
  <Application>Microsoft Office PowerPoint</Application>
  <PresentationFormat>Widescreen</PresentationFormat>
  <Paragraphs>135</Paragraphs>
  <Slides>20</Slides>
  <Notes>19</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U.S. BIOFUEL POLICY</vt:lpstr>
      <vt:lpstr>U.S. BIOFUEL POLICY</vt:lpstr>
      <vt:lpstr>U.S. BIOFUEL POLICY</vt:lpstr>
      <vt:lpstr>U.S. BIOFUELS POLICY</vt:lpstr>
      <vt:lpstr>U.S. BALANCE SHEET </vt:lpstr>
      <vt:lpstr>ARGENTINA</vt:lpstr>
      <vt:lpstr>BRAZIL</vt:lpstr>
      <vt:lpstr>WORLD</vt:lpstr>
      <vt:lpstr>WORLD VEGETABLE OILS</vt:lpstr>
      <vt:lpstr>WORLD VEGETABLE OILS</vt:lpstr>
      <vt:lpstr>WORLD VEGETABLE OILS</vt:lpstr>
      <vt:lpstr>WORLD VEGETABLE OILS</vt:lpstr>
      <vt:lpstr>WORLD VEGETABLE OILS</vt:lpstr>
      <vt:lpstr>WORLD VEGETABLE OILS</vt:lpstr>
      <vt:lpstr>WORLD VEGETABLE OILS</vt:lpstr>
      <vt:lpstr>WORLD VEGETABLE OILS</vt:lpstr>
      <vt:lpstr>WORLD VEGETABLE OILS</vt:lpstr>
      <vt:lpstr>SOYBEAN OIL FORECAST</vt:lpstr>
      <vt:lpstr>PALM OIL FORECAST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Tore Alden</dc:creator>
  <cp:lastModifiedBy>Tore Alden</cp:lastModifiedBy>
  <cp:revision>58</cp:revision>
  <dcterms:created xsi:type="dcterms:W3CDTF">2018-05-21T15:23:32Z</dcterms:created>
  <dcterms:modified xsi:type="dcterms:W3CDTF">2019-10-16T18:44:58Z</dcterms:modified>
</cp:coreProperties>
</file>